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libri (MS) Bold" charset="1" panose="020F0702030404030204"/>
      <p:regular r:id="rId19"/>
    </p:embeddedFont>
    <p:embeddedFont>
      <p:font typeface="Calibri (MS) Bold Italics" charset="1" panose="020F07020304040A0204"/>
      <p:regular r:id="rId20"/>
    </p:embeddedFont>
    <p:embeddedFont>
      <p:font typeface="Canva Sans Bold" charset="1" panose="020B08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6.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2.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https://drive.google.com/drive/folders/146TP3C6BJPuByczkCy2VHhQcak6S1imb?usp=sharing" TargetMode="External" Type="http://schemas.openxmlformats.org/officeDocument/2006/relationships/hyperlink"/><Relationship Id="rId7" Target="https://github.com/SAMAYEETA27/Feature-Engineering-for-Credit-Card-Fraud-Detection-by-Samayeeta-Saha" TargetMode="External" Type="http://schemas.openxmlformats.org/officeDocument/2006/relationships/hyperlink"/><Relationship Id="rId8" Target="https://training.allsoftsolutions.in/projects/42"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861" r="0" b="-27471"/>
            </a:stretch>
          </a:blipFill>
        </p:spPr>
      </p:sp>
      <p:sp>
        <p:nvSpPr>
          <p:cNvPr name="Freeform 3" id="3"/>
          <p:cNvSpPr/>
          <p:nvPr/>
        </p:nvSpPr>
        <p:spPr>
          <a:xfrm flipH="false" flipV="false" rot="0">
            <a:off x="11840693" y="9105267"/>
            <a:ext cx="4522532" cy="953843"/>
          </a:xfrm>
          <a:custGeom>
            <a:avLst/>
            <a:gdLst/>
            <a:ahLst/>
            <a:cxnLst/>
            <a:rect r="r" b="b" t="t" l="l"/>
            <a:pathLst>
              <a:path h="953843" w="4522532">
                <a:moveTo>
                  <a:pt x="0" y="0"/>
                </a:moveTo>
                <a:lnTo>
                  <a:pt x="4522533" y="0"/>
                </a:lnTo>
                <a:lnTo>
                  <a:pt x="4522533" y="953843"/>
                </a:lnTo>
                <a:lnTo>
                  <a:pt x="0" y="9538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099463" y="113346"/>
            <a:ext cx="11915767" cy="1551830"/>
          </a:xfrm>
          <a:prstGeom prst="rect">
            <a:avLst/>
          </a:prstGeom>
        </p:spPr>
        <p:txBody>
          <a:bodyPr anchor="t" rtlCol="false" tIns="0" lIns="0" bIns="0" rIns="0">
            <a:spAutoFit/>
          </a:bodyPr>
          <a:lstStyle/>
          <a:p>
            <a:pPr algn="ctr">
              <a:lnSpc>
                <a:spcPts val="11309"/>
              </a:lnSpc>
              <a:spcBef>
                <a:spcPct val="0"/>
              </a:spcBef>
            </a:pPr>
            <a:r>
              <a:rPr lang="en-US" b="true" sz="8078">
                <a:solidFill>
                  <a:srgbClr val="042161"/>
                </a:solidFill>
                <a:latin typeface="Calibri (MS) Bold"/>
                <a:ea typeface="Calibri (MS) Bold"/>
                <a:cs typeface="Calibri (MS) Bold"/>
                <a:sym typeface="Calibri (MS) Bold"/>
              </a:rPr>
              <a:t>FEATURE ENGINEERING FOR</a:t>
            </a:r>
          </a:p>
        </p:txBody>
      </p:sp>
      <p:sp>
        <p:nvSpPr>
          <p:cNvPr name="TextBox 5" id="5"/>
          <p:cNvSpPr txBox="true"/>
          <p:nvPr/>
        </p:nvSpPr>
        <p:spPr>
          <a:xfrm rot="0">
            <a:off x="12304956" y="9035358"/>
            <a:ext cx="3594006" cy="988885"/>
          </a:xfrm>
          <a:prstGeom prst="rect">
            <a:avLst/>
          </a:prstGeom>
        </p:spPr>
        <p:txBody>
          <a:bodyPr anchor="t" rtlCol="false" tIns="0" lIns="0" bIns="0" rIns="0">
            <a:spAutoFit/>
          </a:bodyPr>
          <a:lstStyle/>
          <a:p>
            <a:pPr algn="ctr">
              <a:lnSpc>
                <a:spcPts val="3769"/>
              </a:lnSpc>
              <a:spcBef>
                <a:spcPct val="0"/>
              </a:spcBef>
            </a:pPr>
            <a:r>
              <a:rPr lang="en-US" b="true" sz="2692">
                <a:solidFill>
                  <a:srgbClr val="FFFFFF"/>
                </a:solidFill>
                <a:latin typeface="Calibri (MS) Bold"/>
                <a:ea typeface="Calibri (MS) Bold"/>
                <a:cs typeface="Calibri (MS) Bold"/>
                <a:sym typeface="Calibri (MS) Bold"/>
              </a:rPr>
              <a:t>PRESENTED BY: SAMAYEETA SAHA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473879" y="352824"/>
            <a:ext cx="7340243" cy="2015230"/>
          </a:xfrm>
          <a:custGeom>
            <a:avLst/>
            <a:gdLst/>
            <a:ahLst/>
            <a:cxnLst/>
            <a:rect r="r" b="b" t="t" l="l"/>
            <a:pathLst>
              <a:path h="2015230" w="7340243">
                <a:moveTo>
                  <a:pt x="0" y="0"/>
                </a:moveTo>
                <a:lnTo>
                  <a:pt x="7340242" y="0"/>
                </a:lnTo>
                <a:lnTo>
                  <a:pt x="7340242" y="2015230"/>
                </a:lnTo>
                <a:lnTo>
                  <a:pt x="0" y="20152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952140" y="133749"/>
            <a:ext cx="6383719" cy="1994502"/>
          </a:xfrm>
          <a:prstGeom prst="rect">
            <a:avLst/>
          </a:prstGeom>
        </p:spPr>
        <p:txBody>
          <a:bodyPr anchor="t" rtlCol="false" tIns="0" lIns="0" bIns="0" rIns="0">
            <a:spAutoFit/>
          </a:bodyPr>
          <a:lstStyle/>
          <a:p>
            <a:pPr algn="ctr">
              <a:lnSpc>
                <a:spcPts val="7564"/>
              </a:lnSpc>
              <a:spcBef>
                <a:spcPct val="0"/>
              </a:spcBef>
            </a:pPr>
            <a:r>
              <a:rPr lang="en-US" b="true" sz="5403">
                <a:solidFill>
                  <a:srgbClr val="000000"/>
                </a:solidFill>
                <a:latin typeface="Calibri (MS) Bold"/>
                <a:ea typeface="Calibri (MS) Bold"/>
                <a:cs typeface="Calibri (MS) Bold"/>
                <a:sym typeface="Calibri (MS) Bold"/>
              </a:rPr>
              <a:t>PROJECT DESCRIPTION</a:t>
            </a:r>
          </a:p>
        </p:txBody>
      </p:sp>
      <p:sp>
        <p:nvSpPr>
          <p:cNvPr name="TextBox 5" id="5"/>
          <p:cNvSpPr txBox="true"/>
          <p:nvPr/>
        </p:nvSpPr>
        <p:spPr>
          <a:xfrm rot="0">
            <a:off x="668537" y="2253754"/>
            <a:ext cx="16950925" cy="3930646"/>
          </a:xfrm>
          <a:prstGeom prst="rect">
            <a:avLst/>
          </a:prstGeom>
        </p:spPr>
        <p:txBody>
          <a:bodyPr anchor="t" rtlCol="false" tIns="0" lIns="0" bIns="0" rIns="0">
            <a:spAutoFit/>
          </a:bodyPr>
          <a:lstStyle/>
          <a:p>
            <a:pPr algn="ctr">
              <a:lnSpc>
                <a:spcPts val="3850"/>
              </a:lnSpc>
              <a:spcBef>
                <a:spcPct val="0"/>
              </a:spcBef>
            </a:pPr>
            <a:r>
              <a:rPr lang="en-US" b="true" sz="2750">
                <a:solidFill>
                  <a:srgbClr val="000000"/>
                </a:solidFill>
                <a:latin typeface="Calibri (MS) Bold"/>
                <a:ea typeface="Calibri (MS) Bold"/>
                <a:cs typeface="Calibri (MS) Bold"/>
                <a:sym typeface="Calibri (MS) Bold"/>
              </a:rPr>
              <a:t>This project focuses on detecting credit card fraud thr</a:t>
            </a:r>
            <a:r>
              <a:rPr lang="en-US" b="true" sz="2750">
                <a:solidFill>
                  <a:srgbClr val="000000"/>
                </a:solidFill>
                <a:latin typeface="Calibri (MS) Bold"/>
                <a:ea typeface="Calibri (MS) Bold"/>
                <a:cs typeface="Calibri (MS) Bold"/>
                <a:sym typeface="Calibri (MS) Bold"/>
              </a:rPr>
              <a:t>ough advanced feature engineering techniques to improve machine learning performance. Using a highly imbalanced transaction dataset, various preprocessing steps such as normalization, data balancing (SMOTE), and exploratory data analysis were performed. New features capturing temporal, statistical, and behavioral patterns were engineered to enhance fraud detection capability. Models including Logistic Regression, Random Forest, and XGBoost were trained and evaluated, with XGBoost achieving an AUC of 0.98. Results showed that feature engineering significantly improved detection accuracy and recall, highlighting its critical role in building robust, interpretable, and scalable fraud detection systems for financial institutions.</a:t>
            </a:r>
          </a:p>
        </p:txBody>
      </p:sp>
      <p:sp>
        <p:nvSpPr>
          <p:cNvPr name="TextBox 6" id="6"/>
          <p:cNvSpPr txBox="true"/>
          <p:nvPr/>
        </p:nvSpPr>
        <p:spPr>
          <a:xfrm rot="0">
            <a:off x="1989478" y="6079625"/>
            <a:ext cx="14489125" cy="4575756"/>
          </a:xfrm>
          <a:prstGeom prst="rect">
            <a:avLst/>
          </a:prstGeom>
        </p:spPr>
        <p:txBody>
          <a:bodyPr anchor="t" rtlCol="false" tIns="0" lIns="0" bIns="0" rIns="0">
            <a:spAutoFit/>
          </a:bodyPr>
          <a:lstStyle/>
          <a:p>
            <a:pPr algn="l">
              <a:lnSpc>
                <a:spcPts val="3993"/>
              </a:lnSpc>
            </a:pPr>
            <a:r>
              <a:rPr lang="en-US" b="true" sz="2852" i="true" u="sng">
                <a:solidFill>
                  <a:srgbClr val="000000"/>
                </a:solidFill>
                <a:latin typeface="Calibri (MS) Bold Italics"/>
                <a:ea typeface="Calibri (MS) Bold Italics"/>
                <a:cs typeface="Calibri (MS) Bold Italics"/>
                <a:sym typeface="Calibri (MS) Bold Italics"/>
              </a:rPr>
              <a:t>DATA DESCRIPTION</a:t>
            </a:r>
            <a:r>
              <a:rPr lang="en-US" sz="2852" b="true">
                <a:solidFill>
                  <a:srgbClr val="000000"/>
                </a:solidFill>
                <a:latin typeface="Calibri (MS) Bold"/>
                <a:ea typeface="Calibri (MS) Bold"/>
                <a:cs typeface="Calibri (MS) Bold"/>
                <a:sym typeface="Calibri (MS) Bold"/>
              </a:rPr>
              <a:t>:</a:t>
            </a:r>
          </a:p>
          <a:p>
            <a:pPr algn="l">
              <a:lnSpc>
                <a:spcPts val="3993"/>
              </a:lnSpc>
            </a:pPr>
            <a:r>
              <a:rPr lang="en-US" sz="2852" b="true">
                <a:solidFill>
                  <a:srgbClr val="000000"/>
                </a:solidFill>
                <a:latin typeface="Calibri (MS) Bold"/>
                <a:ea typeface="Calibri (MS) Bold"/>
                <a:cs typeface="Calibri (MS) Bold"/>
                <a:sym typeface="Calibri (MS) Bold"/>
              </a:rPr>
              <a:t>Dataset Source:</a:t>
            </a:r>
          </a:p>
          <a:p>
            <a:pPr algn="l" marL="615778" indent="-307889" lvl="1">
              <a:lnSpc>
                <a:spcPts val="3993"/>
              </a:lnSpc>
              <a:buFont typeface="Arial"/>
              <a:buChar char="•"/>
            </a:pPr>
            <a:r>
              <a:rPr lang="en-US" b="true" sz="2852">
                <a:solidFill>
                  <a:srgbClr val="000000"/>
                </a:solidFill>
                <a:latin typeface="Calibri (MS) Bold"/>
                <a:ea typeface="Calibri (MS) Bold"/>
                <a:cs typeface="Calibri (MS) Bold"/>
                <a:sym typeface="Calibri (MS) Bold"/>
              </a:rPr>
              <a:t> Public credit card transaction dataset (Kaggle “Credit Card Fraud Detection” dataset).</a:t>
            </a:r>
          </a:p>
          <a:p>
            <a:pPr algn="l">
              <a:lnSpc>
                <a:spcPts val="3993"/>
              </a:lnSpc>
            </a:pPr>
            <a:r>
              <a:rPr lang="en-US" sz="2852" b="true">
                <a:solidFill>
                  <a:srgbClr val="000000"/>
                </a:solidFill>
                <a:latin typeface="Calibri (MS) Bold"/>
                <a:ea typeface="Calibri (MS) Bold"/>
                <a:cs typeface="Calibri (MS) Bold"/>
                <a:sym typeface="Calibri (MS) Bold"/>
              </a:rPr>
              <a:t>Dataset Size:</a:t>
            </a:r>
          </a:p>
          <a:p>
            <a:pPr algn="l" marL="615778" indent="-307889" lvl="1">
              <a:lnSpc>
                <a:spcPts val="3993"/>
              </a:lnSpc>
              <a:buFont typeface="Arial"/>
              <a:buChar char="•"/>
            </a:pPr>
            <a:r>
              <a:rPr lang="en-US" b="true" sz="2852">
                <a:solidFill>
                  <a:srgbClr val="000000"/>
                </a:solidFill>
                <a:latin typeface="Calibri (MS) Bold"/>
                <a:ea typeface="Calibri (MS) Bold"/>
                <a:cs typeface="Calibri (MS) Bold"/>
                <a:sym typeface="Calibri (MS) Bold"/>
              </a:rPr>
              <a:t> ~284,807 transactions, 492 labeled as fraud.</a:t>
            </a:r>
          </a:p>
          <a:p>
            <a:pPr algn="l">
              <a:lnSpc>
                <a:spcPts val="3993"/>
              </a:lnSpc>
            </a:pPr>
            <a:r>
              <a:rPr lang="en-US" sz="2852" b="true">
                <a:solidFill>
                  <a:srgbClr val="000000"/>
                </a:solidFill>
                <a:latin typeface="Calibri (MS) Bold"/>
                <a:ea typeface="Calibri (MS) Bold"/>
                <a:cs typeface="Calibri (MS) Bold"/>
                <a:sym typeface="Calibri (MS) Bold"/>
              </a:rPr>
              <a:t>Features:</a:t>
            </a:r>
          </a:p>
          <a:p>
            <a:pPr algn="l" marL="615778" indent="-307889" lvl="1">
              <a:lnSpc>
                <a:spcPts val="3993"/>
              </a:lnSpc>
              <a:buFont typeface="Arial"/>
              <a:buChar char="•"/>
            </a:pPr>
            <a:r>
              <a:rPr lang="en-US" b="true" sz="2852">
                <a:solidFill>
                  <a:srgbClr val="000000"/>
                </a:solidFill>
                <a:latin typeface="Calibri (MS) Bold"/>
                <a:ea typeface="Calibri (MS) Bold"/>
                <a:cs typeface="Calibri (MS) Bold"/>
                <a:sym typeface="Calibri (MS) Bold"/>
              </a:rPr>
              <a:t>28 anonymized numerical features (V1–V28)</a:t>
            </a:r>
          </a:p>
          <a:p>
            <a:pPr algn="l" marL="615778" indent="-307889" lvl="1">
              <a:lnSpc>
                <a:spcPts val="3993"/>
              </a:lnSpc>
              <a:buFont typeface="Arial"/>
              <a:buChar char="•"/>
            </a:pPr>
            <a:r>
              <a:rPr lang="en-US" b="true" sz="2852">
                <a:solidFill>
                  <a:srgbClr val="000000"/>
                </a:solidFill>
                <a:latin typeface="Calibri (MS) Bold"/>
                <a:ea typeface="Calibri (MS) Bold"/>
                <a:cs typeface="Calibri (MS) Bold"/>
                <a:sym typeface="Calibri (MS) Bold"/>
              </a:rPr>
              <a:t>Time, Amount, Class (target variable)</a:t>
            </a:r>
          </a:p>
          <a:p>
            <a:pPr algn="l">
              <a:lnSpc>
                <a:spcPts val="3993"/>
              </a:lnSpc>
              <a:spcBef>
                <a:spcPct val="0"/>
              </a:spcBef>
            </a:pPr>
            <a:r>
              <a:rPr lang="en-US" b="true" sz="2852">
                <a:solidFill>
                  <a:srgbClr val="000000"/>
                </a:solidFill>
                <a:latin typeface="Calibri (MS) Bold"/>
                <a:ea typeface="Calibri (MS) Bold"/>
                <a:cs typeface="Calibri (MS) Bold"/>
                <a:sym typeface="Calibri (MS) Bold"/>
              </a:rPr>
              <a: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465177" y="2677271"/>
            <a:ext cx="10206081" cy="8942903"/>
          </a:xfrm>
          <a:prstGeom prst="rect">
            <a:avLst/>
          </a:prstGeom>
        </p:spPr>
        <p:txBody>
          <a:bodyPr anchor="t" rtlCol="false" tIns="0" lIns="0" bIns="0" rIns="0">
            <a:spAutoFit/>
          </a:bodyPr>
          <a:lstStyle/>
          <a:p>
            <a:pPr algn="l">
              <a:lnSpc>
                <a:spcPts val="4784"/>
              </a:lnSpc>
              <a:spcBef>
                <a:spcPct val="0"/>
              </a:spcBef>
            </a:pPr>
            <a:r>
              <a:rPr lang="en-US" b="true" sz="3417">
                <a:solidFill>
                  <a:srgbClr val="000000"/>
                </a:solidFill>
                <a:latin typeface="Calibri (MS) Bold"/>
                <a:ea typeface="Calibri (MS) Bold"/>
                <a:cs typeface="Calibri (MS) Bold"/>
                <a:sym typeface="Calibri (MS) Bold"/>
              </a:rPr>
              <a:t>Pr</a:t>
            </a:r>
            <a:r>
              <a:rPr lang="en-US" b="true" sz="3417">
                <a:solidFill>
                  <a:srgbClr val="000000"/>
                </a:solidFill>
                <a:latin typeface="Calibri (MS) Bold"/>
                <a:ea typeface="Calibri (MS) Bold"/>
                <a:cs typeface="Calibri (MS) Bold"/>
                <a:sym typeface="Calibri (MS) Bold"/>
              </a:rPr>
              <a:t>ogramming Language: Python</a:t>
            </a:r>
          </a:p>
          <a:p>
            <a:pPr algn="l">
              <a:lnSpc>
                <a:spcPts val="4784"/>
              </a:lnSpc>
              <a:spcBef>
                <a:spcPct val="0"/>
              </a:spcBef>
            </a:pPr>
            <a:r>
              <a:rPr lang="en-US" b="true" sz="3417">
                <a:solidFill>
                  <a:srgbClr val="000000"/>
                </a:solidFill>
                <a:latin typeface="Calibri (MS) Bold"/>
                <a:ea typeface="Calibri (MS) Bold"/>
                <a:cs typeface="Calibri (MS) Bold"/>
                <a:sym typeface="Calibri (MS) Bold"/>
              </a:rPr>
              <a:t>Libraries:</a:t>
            </a:r>
          </a:p>
          <a:p>
            <a:pPr algn="l" marL="737772" indent="-368886" lvl="1">
              <a:lnSpc>
                <a:spcPts val="4784"/>
              </a:lnSpc>
              <a:spcBef>
                <a:spcPct val="0"/>
              </a:spcBef>
              <a:buFont typeface="Arial"/>
              <a:buChar char="•"/>
            </a:pPr>
            <a:r>
              <a:rPr lang="en-US" b="true" sz="3417">
                <a:solidFill>
                  <a:srgbClr val="000000"/>
                </a:solidFill>
                <a:latin typeface="Calibri (MS) Bold"/>
                <a:ea typeface="Calibri (MS) Bold"/>
                <a:cs typeface="Calibri (MS) Bold"/>
                <a:sym typeface="Calibri (MS) Bold"/>
              </a:rPr>
              <a:t>pandas, numpy → Data preprocessing &amp; manipulation</a:t>
            </a:r>
          </a:p>
          <a:p>
            <a:pPr algn="l" marL="737772" indent="-368886" lvl="1">
              <a:lnSpc>
                <a:spcPts val="4784"/>
              </a:lnSpc>
              <a:spcBef>
                <a:spcPct val="0"/>
              </a:spcBef>
              <a:buFont typeface="Arial"/>
              <a:buChar char="•"/>
            </a:pPr>
            <a:r>
              <a:rPr lang="en-US" b="true" sz="3417">
                <a:solidFill>
                  <a:srgbClr val="000000"/>
                </a:solidFill>
                <a:latin typeface="Calibri (MS) Bold"/>
                <a:ea typeface="Calibri (MS) Bold"/>
                <a:cs typeface="Calibri (MS) Bold"/>
                <a:sym typeface="Calibri (MS) Bold"/>
              </a:rPr>
              <a:t>matplotlib, seaborn → Data visualization</a:t>
            </a:r>
          </a:p>
          <a:p>
            <a:pPr algn="l" marL="737772" indent="-368886" lvl="1">
              <a:lnSpc>
                <a:spcPts val="4784"/>
              </a:lnSpc>
              <a:spcBef>
                <a:spcPct val="0"/>
              </a:spcBef>
              <a:buFont typeface="Arial"/>
              <a:buChar char="•"/>
            </a:pPr>
            <a:r>
              <a:rPr lang="en-US" b="true" sz="3417">
                <a:solidFill>
                  <a:srgbClr val="000000"/>
                </a:solidFill>
                <a:latin typeface="Calibri (MS) Bold"/>
                <a:ea typeface="Calibri (MS) Bold"/>
                <a:cs typeface="Calibri (MS) Bold"/>
                <a:sym typeface="Calibri (MS) Bold"/>
              </a:rPr>
              <a:t>scikit-learn → ML modeling, feature scaling</a:t>
            </a:r>
          </a:p>
          <a:p>
            <a:pPr algn="l" marL="737772" indent="-368886" lvl="1">
              <a:lnSpc>
                <a:spcPts val="4784"/>
              </a:lnSpc>
              <a:spcBef>
                <a:spcPct val="0"/>
              </a:spcBef>
              <a:buFont typeface="Arial"/>
              <a:buChar char="•"/>
            </a:pPr>
            <a:r>
              <a:rPr lang="en-US" b="true" sz="3417">
                <a:solidFill>
                  <a:srgbClr val="000000"/>
                </a:solidFill>
                <a:latin typeface="Calibri (MS) Bold"/>
                <a:ea typeface="Calibri (MS) Bold"/>
                <a:cs typeface="Calibri (MS) Bold"/>
                <a:sym typeface="Calibri (MS) Bold"/>
              </a:rPr>
              <a:t>imbalanced-learn → Oversampling / undersampling</a:t>
            </a:r>
          </a:p>
          <a:p>
            <a:pPr algn="l">
              <a:lnSpc>
                <a:spcPts val="4784"/>
              </a:lnSpc>
              <a:spcBef>
                <a:spcPct val="0"/>
              </a:spcBef>
            </a:pPr>
            <a:r>
              <a:rPr lang="en-US" b="true" sz="3417">
                <a:solidFill>
                  <a:srgbClr val="000000"/>
                </a:solidFill>
                <a:latin typeface="Calibri (MS) Bold"/>
                <a:ea typeface="Calibri (MS) Bold"/>
                <a:cs typeface="Calibri (MS) Bold"/>
                <a:sym typeface="Calibri (MS) Bold"/>
              </a:rPr>
              <a:t>Environment: Jupyter Notebook / Google Colab</a:t>
            </a:r>
          </a:p>
          <a:p>
            <a:pPr algn="l">
              <a:lnSpc>
                <a:spcPts val="4784"/>
              </a:lnSpc>
              <a:spcBef>
                <a:spcPct val="0"/>
              </a:spcBef>
            </a:pPr>
            <a:r>
              <a:rPr lang="en-US" b="true" sz="3417">
                <a:solidFill>
                  <a:srgbClr val="000000"/>
                </a:solidFill>
                <a:latin typeface="Calibri (MS) Bold"/>
                <a:ea typeface="Calibri (MS) Bold"/>
                <a:cs typeface="Calibri (MS) Bold"/>
                <a:sym typeface="Calibri (MS) Bold"/>
              </a:rPr>
              <a:t>Version Control: GitHub</a:t>
            </a:r>
          </a:p>
          <a:p>
            <a:pPr algn="l">
              <a:lnSpc>
                <a:spcPts val="4668"/>
              </a:lnSpc>
              <a:spcBef>
                <a:spcPct val="0"/>
              </a:spcBef>
            </a:pPr>
            <a:r>
              <a:rPr lang="en-US" b="true" sz="3334">
                <a:solidFill>
                  <a:srgbClr val="000000"/>
                </a:solidFill>
                <a:latin typeface="Calibri (MS) Bold"/>
                <a:ea typeface="Calibri (MS) Bold"/>
                <a:cs typeface="Calibri (MS) Bold"/>
                <a:sym typeface="Calibri (MS) Bold"/>
              </a:rPr>
              <a:t>DataSet: Credit card fraud dataset(Kaggle)</a:t>
            </a:r>
          </a:p>
          <a:p>
            <a:pPr algn="l">
              <a:lnSpc>
                <a:spcPts val="4784"/>
              </a:lnSpc>
              <a:spcBef>
                <a:spcPct val="0"/>
              </a:spcBef>
            </a:pPr>
          </a:p>
          <a:p>
            <a:pPr algn="l">
              <a:lnSpc>
                <a:spcPts val="3976"/>
              </a:lnSpc>
              <a:spcBef>
                <a:spcPct val="0"/>
              </a:spcBef>
            </a:pPr>
          </a:p>
          <a:p>
            <a:pPr algn="l">
              <a:lnSpc>
                <a:spcPts val="4784"/>
              </a:lnSpc>
              <a:spcBef>
                <a:spcPct val="0"/>
              </a:spcBef>
            </a:pPr>
          </a:p>
          <a:p>
            <a:pPr algn="ctr">
              <a:lnSpc>
                <a:spcPts val="4784"/>
              </a:lnSpc>
              <a:spcBef>
                <a:spcPct val="0"/>
              </a:spcBef>
            </a:pPr>
          </a:p>
          <a:p>
            <a:pPr algn="ctr">
              <a:lnSpc>
                <a:spcPts val="4784"/>
              </a:lnSpc>
              <a:spcBef>
                <a:spcPct val="0"/>
              </a:spcBef>
            </a:pPr>
          </a:p>
        </p:txBody>
      </p:sp>
      <p:sp>
        <p:nvSpPr>
          <p:cNvPr name="Freeform 4" id="4"/>
          <p:cNvSpPr/>
          <p:nvPr/>
        </p:nvSpPr>
        <p:spPr>
          <a:xfrm flipH="false" flipV="false" rot="0">
            <a:off x="5578191" y="200424"/>
            <a:ext cx="9507341" cy="2610197"/>
          </a:xfrm>
          <a:custGeom>
            <a:avLst/>
            <a:gdLst/>
            <a:ahLst/>
            <a:cxnLst/>
            <a:rect r="r" b="b" t="t" l="l"/>
            <a:pathLst>
              <a:path h="2610197" w="9507341">
                <a:moveTo>
                  <a:pt x="0" y="0"/>
                </a:moveTo>
                <a:lnTo>
                  <a:pt x="9507341" y="0"/>
                </a:lnTo>
                <a:lnTo>
                  <a:pt x="9507341" y="2610197"/>
                </a:lnTo>
                <a:lnTo>
                  <a:pt x="0" y="26101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155216" y="2810621"/>
            <a:ext cx="3646232" cy="1632641"/>
          </a:xfrm>
          <a:custGeom>
            <a:avLst/>
            <a:gdLst/>
            <a:ahLst/>
            <a:cxnLst/>
            <a:rect r="r" b="b" t="t" l="l"/>
            <a:pathLst>
              <a:path h="1632641" w="3646232">
                <a:moveTo>
                  <a:pt x="0" y="0"/>
                </a:moveTo>
                <a:lnTo>
                  <a:pt x="3646232" y="0"/>
                </a:lnTo>
                <a:lnTo>
                  <a:pt x="3646232" y="1632641"/>
                </a:lnTo>
                <a:lnTo>
                  <a:pt x="0" y="1632641"/>
                </a:lnTo>
                <a:lnTo>
                  <a:pt x="0" y="0"/>
                </a:lnTo>
                <a:close/>
              </a:path>
            </a:pathLst>
          </a:custGeom>
          <a:blipFill>
            <a:blip r:embed="rId5"/>
            <a:stretch>
              <a:fillRect l="0" t="0" r="0" b="0"/>
            </a:stretch>
          </a:blipFill>
        </p:spPr>
      </p:sp>
      <p:sp>
        <p:nvSpPr>
          <p:cNvPr name="Freeform 6" id="6"/>
          <p:cNvSpPr/>
          <p:nvPr/>
        </p:nvSpPr>
        <p:spPr>
          <a:xfrm flipH="false" flipV="false" rot="0">
            <a:off x="14343022" y="4913537"/>
            <a:ext cx="3270620" cy="1324925"/>
          </a:xfrm>
          <a:custGeom>
            <a:avLst/>
            <a:gdLst/>
            <a:ahLst/>
            <a:cxnLst/>
            <a:rect r="r" b="b" t="t" l="l"/>
            <a:pathLst>
              <a:path h="1324925" w="3270620">
                <a:moveTo>
                  <a:pt x="0" y="0"/>
                </a:moveTo>
                <a:lnTo>
                  <a:pt x="3270620" y="0"/>
                </a:lnTo>
                <a:lnTo>
                  <a:pt x="3270620" y="1324925"/>
                </a:lnTo>
                <a:lnTo>
                  <a:pt x="0" y="1324925"/>
                </a:lnTo>
                <a:lnTo>
                  <a:pt x="0" y="0"/>
                </a:lnTo>
                <a:close/>
              </a:path>
            </a:pathLst>
          </a:custGeom>
          <a:blipFill>
            <a:blip r:embed="rId6"/>
            <a:stretch>
              <a:fillRect l="0" t="0" r="0" b="0"/>
            </a:stretch>
          </a:blipFill>
        </p:spPr>
      </p:sp>
      <p:sp>
        <p:nvSpPr>
          <p:cNvPr name="Freeform 7" id="7"/>
          <p:cNvSpPr/>
          <p:nvPr/>
        </p:nvSpPr>
        <p:spPr>
          <a:xfrm flipH="false" flipV="false" rot="0">
            <a:off x="15512039" y="6743287"/>
            <a:ext cx="1681561" cy="1681561"/>
          </a:xfrm>
          <a:custGeom>
            <a:avLst/>
            <a:gdLst/>
            <a:ahLst/>
            <a:cxnLst/>
            <a:rect r="r" b="b" t="t" l="l"/>
            <a:pathLst>
              <a:path h="1681561" w="1681561">
                <a:moveTo>
                  <a:pt x="0" y="0"/>
                </a:moveTo>
                <a:lnTo>
                  <a:pt x="1681562" y="0"/>
                </a:lnTo>
                <a:lnTo>
                  <a:pt x="1681562" y="1681562"/>
                </a:lnTo>
                <a:lnTo>
                  <a:pt x="0" y="1681562"/>
                </a:lnTo>
                <a:lnTo>
                  <a:pt x="0" y="0"/>
                </a:lnTo>
                <a:close/>
              </a:path>
            </a:pathLst>
          </a:custGeom>
          <a:blipFill>
            <a:blip r:embed="rId7"/>
            <a:stretch>
              <a:fillRect l="0" t="0" r="0" b="0"/>
            </a:stretch>
          </a:blipFill>
        </p:spPr>
      </p:sp>
      <p:sp>
        <p:nvSpPr>
          <p:cNvPr name="Freeform 8" id="8"/>
          <p:cNvSpPr/>
          <p:nvPr/>
        </p:nvSpPr>
        <p:spPr>
          <a:xfrm flipH="false" flipV="false" rot="0">
            <a:off x="1296688" y="4015138"/>
            <a:ext cx="2145178" cy="2487163"/>
          </a:xfrm>
          <a:custGeom>
            <a:avLst/>
            <a:gdLst/>
            <a:ahLst/>
            <a:cxnLst/>
            <a:rect r="r" b="b" t="t" l="l"/>
            <a:pathLst>
              <a:path h="2487163" w="2145178">
                <a:moveTo>
                  <a:pt x="0" y="0"/>
                </a:moveTo>
                <a:lnTo>
                  <a:pt x="2145179" y="0"/>
                </a:lnTo>
                <a:lnTo>
                  <a:pt x="2145179" y="2487164"/>
                </a:lnTo>
                <a:lnTo>
                  <a:pt x="0" y="2487164"/>
                </a:lnTo>
                <a:lnTo>
                  <a:pt x="0" y="0"/>
                </a:lnTo>
                <a:close/>
              </a:path>
            </a:pathLst>
          </a:custGeom>
          <a:blipFill>
            <a:blip r:embed="rId8"/>
            <a:stretch>
              <a:fillRect l="0" t="0" r="0" b="0"/>
            </a:stretch>
          </a:blipFill>
        </p:spPr>
      </p:sp>
      <p:sp>
        <p:nvSpPr>
          <p:cNvPr name="Freeform 9" id="9"/>
          <p:cNvSpPr/>
          <p:nvPr/>
        </p:nvSpPr>
        <p:spPr>
          <a:xfrm flipH="false" flipV="false" rot="0">
            <a:off x="11578925" y="8926813"/>
            <a:ext cx="3933115" cy="1127988"/>
          </a:xfrm>
          <a:custGeom>
            <a:avLst/>
            <a:gdLst/>
            <a:ahLst/>
            <a:cxnLst/>
            <a:rect r="r" b="b" t="t" l="l"/>
            <a:pathLst>
              <a:path h="1127988" w="3933115">
                <a:moveTo>
                  <a:pt x="0" y="0"/>
                </a:moveTo>
                <a:lnTo>
                  <a:pt x="3933114" y="0"/>
                </a:lnTo>
                <a:lnTo>
                  <a:pt x="3933114" y="1127988"/>
                </a:lnTo>
                <a:lnTo>
                  <a:pt x="0" y="1127988"/>
                </a:lnTo>
                <a:lnTo>
                  <a:pt x="0" y="0"/>
                </a:lnTo>
                <a:close/>
              </a:path>
            </a:pathLst>
          </a:custGeom>
          <a:blipFill>
            <a:blip r:embed="rId9"/>
            <a:stretch>
              <a:fillRect l="0" t="0" r="0" b="0"/>
            </a:stretch>
          </a:blipFill>
        </p:spPr>
      </p:sp>
      <p:sp>
        <p:nvSpPr>
          <p:cNvPr name="Freeform 10" id="10"/>
          <p:cNvSpPr/>
          <p:nvPr/>
        </p:nvSpPr>
        <p:spPr>
          <a:xfrm flipH="false" flipV="false" rot="0">
            <a:off x="1518293" y="2495258"/>
            <a:ext cx="2049271" cy="1519880"/>
          </a:xfrm>
          <a:custGeom>
            <a:avLst/>
            <a:gdLst/>
            <a:ahLst/>
            <a:cxnLst/>
            <a:rect r="r" b="b" t="t" l="l"/>
            <a:pathLst>
              <a:path h="1519880" w="2049271">
                <a:moveTo>
                  <a:pt x="0" y="0"/>
                </a:moveTo>
                <a:lnTo>
                  <a:pt x="2049271" y="0"/>
                </a:lnTo>
                <a:lnTo>
                  <a:pt x="2049271" y="1519880"/>
                </a:lnTo>
                <a:lnTo>
                  <a:pt x="0" y="1519880"/>
                </a:lnTo>
                <a:lnTo>
                  <a:pt x="0" y="0"/>
                </a:lnTo>
                <a:close/>
              </a:path>
            </a:pathLst>
          </a:custGeom>
          <a:blipFill>
            <a:blip r:embed="rId10"/>
            <a:stretch>
              <a:fillRect l="-21515" t="0" r="-10336" b="0"/>
            </a:stretch>
          </a:blipFill>
        </p:spPr>
      </p:sp>
      <p:sp>
        <p:nvSpPr>
          <p:cNvPr name="Freeform 11" id="11"/>
          <p:cNvSpPr/>
          <p:nvPr/>
        </p:nvSpPr>
        <p:spPr>
          <a:xfrm flipH="false" flipV="false" rot="0">
            <a:off x="620681" y="6822348"/>
            <a:ext cx="2821186" cy="1523440"/>
          </a:xfrm>
          <a:custGeom>
            <a:avLst/>
            <a:gdLst/>
            <a:ahLst/>
            <a:cxnLst/>
            <a:rect r="r" b="b" t="t" l="l"/>
            <a:pathLst>
              <a:path h="1523440" w="2821186">
                <a:moveTo>
                  <a:pt x="0" y="0"/>
                </a:moveTo>
                <a:lnTo>
                  <a:pt x="2821186" y="0"/>
                </a:lnTo>
                <a:lnTo>
                  <a:pt x="2821186" y="1523440"/>
                </a:lnTo>
                <a:lnTo>
                  <a:pt x="0" y="1523440"/>
                </a:lnTo>
                <a:lnTo>
                  <a:pt x="0" y="0"/>
                </a:lnTo>
                <a:close/>
              </a:path>
            </a:pathLst>
          </a:custGeom>
          <a:blipFill>
            <a:blip r:embed="rId11"/>
            <a:stretch>
              <a:fillRect l="0" t="0" r="0" b="0"/>
            </a:stretch>
          </a:blipFill>
        </p:spPr>
      </p:sp>
      <p:sp>
        <p:nvSpPr>
          <p:cNvPr name="Freeform 12" id="12"/>
          <p:cNvSpPr/>
          <p:nvPr/>
        </p:nvSpPr>
        <p:spPr>
          <a:xfrm flipH="false" flipV="false" rot="0">
            <a:off x="620681" y="9040531"/>
            <a:ext cx="3844497" cy="900552"/>
          </a:xfrm>
          <a:custGeom>
            <a:avLst/>
            <a:gdLst/>
            <a:ahLst/>
            <a:cxnLst/>
            <a:rect r="r" b="b" t="t" l="l"/>
            <a:pathLst>
              <a:path h="900552" w="3844497">
                <a:moveTo>
                  <a:pt x="0" y="0"/>
                </a:moveTo>
                <a:lnTo>
                  <a:pt x="3844496" y="0"/>
                </a:lnTo>
                <a:lnTo>
                  <a:pt x="3844496" y="900552"/>
                </a:lnTo>
                <a:lnTo>
                  <a:pt x="0" y="900552"/>
                </a:lnTo>
                <a:lnTo>
                  <a:pt x="0" y="0"/>
                </a:lnTo>
                <a:close/>
              </a:path>
            </a:pathLst>
          </a:custGeom>
          <a:blipFill>
            <a:blip r:embed="rId12"/>
            <a:stretch>
              <a:fillRect l="0" t="-161469" r="0" b="-165435"/>
            </a:stretch>
          </a:blipFill>
        </p:spPr>
      </p:sp>
      <p:sp>
        <p:nvSpPr>
          <p:cNvPr name="Freeform 13" id="13"/>
          <p:cNvSpPr/>
          <p:nvPr/>
        </p:nvSpPr>
        <p:spPr>
          <a:xfrm flipH="false" flipV="false" rot="0">
            <a:off x="7522668" y="9060009"/>
            <a:ext cx="2216323" cy="861596"/>
          </a:xfrm>
          <a:custGeom>
            <a:avLst/>
            <a:gdLst/>
            <a:ahLst/>
            <a:cxnLst/>
            <a:rect r="r" b="b" t="t" l="l"/>
            <a:pathLst>
              <a:path h="861596" w="2216323">
                <a:moveTo>
                  <a:pt x="0" y="0"/>
                </a:moveTo>
                <a:lnTo>
                  <a:pt x="2216323" y="0"/>
                </a:lnTo>
                <a:lnTo>
                  <a:pt x="2216323" y="861596"/>
                </a:lnTo>
                <a:lnTo>
                  <a:pt x="0" y="861596"/>
                </a:lnTo>
                <a:lnTo>
                  <a:pt x="0" y="0"/>
                </a:lnTo>
                <a:close/>
              </a:path>
            </a:pathLst>
          </a:custGeom>
          <a:blipFill>
            <a:blip r:embed="rId13"/>
            <a:stretch>
              <a:fillRect l="0" t="0" r="0" b="0"/>
            </a:stretch>
          </a:blipFill>
        </p:spPr>
      </p:sp>
      <p:sp>
        <p:nvSpPr>
          <p:cNvPr name="TextBox 14" id="14"/>
          <p:cNvSpPr txBox="true"/>
          <p:nvPr/>
        </p:nvSpPr>
        <p:spPr>
          <a:xfrm rot="0">
            <a:off x="6344499" y="232082"/>
            <a:ext cx="8504626" cy="2299230"/>
          </a:xfrm>
          <a:prstGeom prst="rect">
            <a:avLst/>
          </a:prstGeom>
        </p:spPr>
        <p:txBody>
          <a:bodyPr anchor="t" rtlCol="false" tIns="0" lIns="0" bIns="0" rIns="0">
            <a:spAutoFit/>
          </a:bodyPr>
          <a:lstStyle/>
          <a:p>
            <a:pPr algn="ctr">
              <a:lnSpc>
                <a:spcPts val="8777"/>
              </a:lnSpc>
              <a:spcBef>
                <a:spcPct val="0"/>
              </a:spcBef>
            </a:pPr>
            <a:r>
              <a:rPr lang="en-US" b="true" sz="6269">
                <a:solidFill>
                  <a:srgbClr val="000000"/>
                </a:solidFill>
                <a:latin typeface="Calibri (MS) Bold"/>
                <a:ea typeface="Calibri (MS) Bold"/>
                <a:cs typeface="Calibri (MS) Bold"/>
                <a:sym typeface="Calibri (MS) Bold"/>
              </a:rPr>
              <a:t>TOOLS &amp;TECHNOLOGY USED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70316" y="1835909"/>
            <a:ext cx="11163032" cy="8721507"/>
          </a:xfrm>
          <a:prstGeom prst="rect">
            <a:avLst/>
          </a:prstGeom>
        </p:spPr>
        <p:txBody>
          <a:bodyPr anchor="t" rtlCol="false" tIns="0" lIns="0" bIns="0" rIns="0">
            <a:spAutoFit/>
          </a:bodyPr>
          <a:lstStyle/>
          <a:p>
            <a:pPr algn="l">
              <a:lnSpc>
                <a:spcPts val="4911"/>
              </a:lnSpc>
              <a:spcBef>
                <a:spcPct val="0"/>
              </a:spcBef>
            </a:pPr>
            <a:r>
              <a:rPr lang="en-US" b="true" sz="3508">
                <a:solidFill>
                  <a:srgbClr val="000000"/>
                </a:solidFill>
                <a:latin typeface="Calibri (MS) Bold"/>
                <a:ea typeface="Calibri (MS) Bold"/>
                <a:cs typeface="Calibri (MS) Bold"/>
                <a:sym typeface="Calibri (MS) Bold"/>
              </a:rPr>
              <a:t>1.Dataset Loading &amp;Explorati</a:t>
            </a:r>
            <a:r>
              <a:rPr lang="en-US" b="true" sz="3508">
                <a:solidFill>
                  <a:srgbClr val="000000"/>
                </a:solidFill>
                <a:latin typeface="Calibri (MS) Bold"/>
                <a:ea typeface="Calibri (MS) Bold"/>
                <a:cs typeface="Calibri (MS) Bold"/>
                <a:sym typeface="Calibri (MS) Bold"/>
              </a:rPr>
              <a:t>on</a:t>
            </a:r>
          </a:p>
          <a:p>
            <a:pPr algn="l" marL="757500" indent="-378750" lvl="1">
              <a:lnSpc>
                <a:spcPts val="4911"/>
              </a:lnSpc>
              <a:spcBef>
                <a:spcPct val="0"/>
              </a:spcBef>
              <a:buFont typeface="Arial"/>
              <a:buChar char="•"/>
            </a:pPr>
            <a:r>
              <a:rPr lang="en-US" b="true" sz="3508">
                <a:solidFill>
                  <a:srgbClr val="000000"/>
                </a:solidFill>
                <a:latin typeface="Calibri (MS) Bold"/>
                <a:ea typeface="Calibri (MS) Bold"/>
                <a:cs typeface="Calibri (MS) Bold"/>
                <a:sym typeface="Calibri (MS) Bold"/>
              </a:rPr>
              <a:t>Checked missing values, distribution, balance between fraud vs non-fraud</a:t>
            </a:r>
          </a:p>
          <a:p>
            <a:pPr algn="l">
              <a:lnSpc>
                <a:spcPts val="4911"/>
              </a:lnSpc>
              <a:spcBef>
                <a:spcPct val="0"/>
              </a:spcBef>
            </a:pPr>
            <a:r>
              <a:rPr lang="en-US" b="true" sz="3508">
                <a:solidFill>
                  <a:srgbClr val="000000"/>
                </a:solidFill>
                <a:latin typeface="Calibri (MS) Bold"/>
                <a:ea typeface="Calibri (MS) Bold"/>
                <a:cs typeface="Calibri (MS) Bold"/>
                <a:sym typeface="Calibri (MS) Bold"/>
              </a:rPr>
              <a:t>2.Feature Engineering</a:t>
            </a:r>
          </a:p>
          <a:p>
            <a:pPr algn="l" marL="757500" indent="-378750" lvl="1">
              <a:lnSpc>
                <a:spcPts val="4911"/>
              </a:lnSpc>
              <a:buFont typeface="Arial"/>
              <a:buChar char="•"/>
            </a:pPr>
            <a:r>
              <a:rPr lang="en-US" b="true" sz="3508">
                <a:solidFill>
                  <a:srgbClr val="000000"/>
                </a:solidFill>
                <a:latin typeface="Calibri (MS) Bold"/>
                <a:ea typeface="Calibri (MS) Bold"/>
                <a:cs typeface="Calibri (MS) Bold"/>
                <a:sym typeface="Calibri (MS) Bold"/>
              </a:rPr>
              <a:t>Created new features such as transaction frequency, amount deviation and time-based patterns</a:t>
            </a:r>
          </a:p>
          <a:p>
            <a:pPr algn="l">
              <a:lnSpc>
                <a:spcPts val="4911"/>
              </a:lnSpc>
              <a:spcBef>
                <a:spcPct val="0"/>
              </a:spcBef>
            </a:pPr>
            <a:r>
              <a:rPr lang="en-US" b="true" sz="3508">
                <a:solidFill>
                  <a:srgbClr val="000000"/>
                </a:solidFill>
                <a:latin typeface="Calibri (MS) Bold"/>
                <a:ea typeface="Calibri (MS) Bold"/>
                <a:cs typeface="Calibri (MS) Bold"/>
                <a:sym typeface="Calibri (MS) Bold"/>
              </a:rPr>
              <a:t>3.Data Preprocessing</a:t>
            </a:r>
          </a:p>
          <a:p>
            <a:pPr algn="l" marL="757500" indent="-378750" lvl="1">
              <a:lnSpc>
                <a:spcPts val="4911"/>
              </a:lnSpc>
              <a:spcBef>
                <a:spcPct val="0"/>
              </a:spcBef>
              <a:buFont typeface="Arial"/>
              <a:buChar char="•"/>
            </a:pPr>
            <a:r>
              <a:rPr lang="en-US" b="true" sz="3508">
                <a:solidFill>
                  <a:srgbClr val="000000"/>
                </a:solidFill>
                <a:latin typeface="Calibri (MS) Bold"/>
                <a:ea typeface="Calibri (MS) Bold"/>
                <a:cs typeface="Calibri (MS) Bold"/>
                <a:sym typeface="Calibri (MS) Bold"/>
              </a:rPr>
              <a:t>Standardization/Normalizaion</a:t>
            </a:r>
          </a:p>
          <a:p>
            <a:pPr algn="l" marL="757500" indent="-378750" lvl="1">
              <a:lnSpc>
                <a:spcPts val="4911"/>
              </a:lnSpc>
              <a:spcBef>
                <a:spcPct val="0"/>
              </a:spcBef>
              <a:buFont typeface="Arial"/>
              <a:buChar char="•"/>
            </a:pPr>
            <a:r>
              <a:rPr lang="en-US" b="true" sz="3508">
                <a:solidFill>
                  <a:srgbClr val="000000"/>
                </a:solidFill>
                <a:latin typeface="Calibri (MS) Bold"/>
                <a:ea typeface="Calibri (MS) Bold"/>
                <a:cs typeface="Calibri (MS) Bold"/>
                <a:sym typeface="Calibri (MS) Bold"/>
              </a:rPr>
              <a:t>Handling imbalanced dataset(SMOTE / undersampling)</a:t>
            </a:r>
          </a:p>
          <a:p>
            <a:pPr algn="l">
              <a:lnSpc>
                <a:spcPts val="4911"/>
              </a:lnSpc>
              <a:spcBef>
                <a:spcPct val="0"/>
              </a:spcBef>
            </a:pPr>
            <a:r>
              <a:rPr lang="en-US" b="true" sz="3508">
                <a:solidFill>
                  <a:srgbClr val="000000"/>
                </a:solidFill>
                <a:latin typeface="Calibri (MS) Bold"/>
                <a:ea typeface="Calibri (MS) Bold"/>
                <a:cs typeface="Calibri (MS) Bold"/>
                <a:sym typeface="Calibri (MS) Bold"/>
              </a:rPr>
              <a:t>4.Model Training</a:t>
            </a:r>
          </a:p>
          <a:p>
            <a:pPr algn="l" marL="757500" indent="-378750" lvl="1">
              <a:lnSpc>
                <a:spcPts val="4911"/>
              </a:lnSpc>
              <a:spcBef>
                <a:spcPct val="0"/>
              </a:spcBef>
              <a:buFont typeface="Arial"/>
              <a:buChar char="•"/>
            </a:pPr>
            <a:r>
              <a:rPr lang="en-US" b="true" sz="3508">
                <a:solidFill>
                  <a:srgbClr val="000000"/>
                </a:solidFill>
                <a:latin typeface="Calibri (MS) Bold"/>
                <a:ea typeface="Calibri (MS) Bold"/>
                <a:cs typeface="Calibri (MS) Bold"/>
                <a:sym typeface="Calibri (MS) Bold"/>
              </a:rPr>
              <a:t>Logistic Regression / Random Forest / XGBoost</a:t>
            </a:r>
          </a:p>
          <a:p>
            <a:pPr algn="l">
              <a:lnSpc>
                <a:spcPts val="4911"/>
              </a:lnSpc>
              <a:spcBef>
                <a:spcPct val="0"/>
              </a:spcBef>
            </a:pPr>
            <a:r>
              <a:rPr lang="en-US" b="true" sz="3508">
                <a:solidFill>
                  <a:srgbClr val="000000"/>
                </a:solidFill>
                <a:latin typeface="Calibri (MS) Bold"/>
                <a:ea typeface="Calibri (MS) Bold"/>
                <a:cs typeface="Calibri (MS) Bold"/>
                <a:sym typeface="Calibri (MS) Bold"/>
              </a:rPr>
              <a:t>5.Evaluation</a:t>
            </a:r>
          </a:p>
          <a:p>
            <a:pPr algn="l" marL="757500" indent="-378750" lvl="1">
              <a:lnSpc>
                <a:spcPts val="4911"/>
              </a:lnSpc>
              <a:buFont typeface="Arial"/>
              <a:buChar char="•"/>
            </a:pPr>
            <a:r>
              <a:rPr lang="en-US" b="true" sz="3508">
                <a:solidFill>
                  <a:srgbClr val="000000"/>
                </a:solidFill>
                <a:latin typeface="Calibri (MS) Bold"/>
                <a:ea typeface="Calibri (MS) Bold"/>
                <a:cs typeface="Calibri (MS) Bold"/>
                <a:sym typeface="Calibri (MS) Bold"/>
              </a:rPr>
              <a:t>Confusion matrix, accuracy, precision, recall, F1 score</a:t>
            </a:r>
          </a:p>
          <a:p>
            <a:pPr algn="l">
              <a:lnSpc>
                <a:spcPts val="4911"/>
              </a:lnSpc>
              <a:spcBef>
                <a:spcPct val="0"/>
              </a:spcBef>
            </a:pPr>
          </a:p>
        </p:txBody>
      </p:sp>
      <p:sp>
        <p:nvSpPr>
          <p:cNvPr name="Freeform 4" id="4"/>
          <p:cNvSpPr/>
          <p:nvPr/>
        </p:nvSpPr>
        <p:spPr>
          <a:xfrm flipH="false" flipV="false" rot="0">
            <a:off x="575792" y="78616"/>
            <a:ext cx="6921141" cy="1900168"/>
          </a:xfrm>
          <a:custGeom>
            <a:avLst/>
            <a:gdLst/>
            <a:ahLst/>
            <a:cxnLst/>
            <a:rect r="r" b="b" t="t" l="l"/>
            <a:pathLst>
              <a:path h="1900168" w="6921141">
                <a:moveTo>
                  <a:pt x="0" y="0"/>
                </a:moveTo>
                <a:lnTo>
                  <a:pt x="6921141" y="0"/>
                </a:lnTo>
                <a:lnTo>
                  <a:pt x="6921141" y="1900168"/>
                </a:lnTo>
                <a:lnTo>
                  <a:pt x="0" y="1900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889824" y="254759"/>
            <a:ext cx="6293076" cy="1152525"/>
          </a:xfrm>
          <a:prstGeom prst="rect">
            <a:avLst/>
          </a:prstGeom>
        </p:spPr>
        <p:txBody>
          <a:bodyPr anchor="t" rtlCol="false" tIns="0" lIns="0" bIns="0" rIns="0">
            <a:spAutoFit/>
          </a:bodyPr>
          <a:lstStyle/>
          <a:p>
            <a:pPr algn="ctr">
              <a:lnSpc>
                <a:spcPts val="8400"/>
              </a:lnSpc>
              <a:spcBef>
                <a:spcPct val="0"/>
              </a:spcBef>
            </a:pPr>
            <a:r>
              <a:rPr lang="en-US" b="true" sz="6000">
                <a:solidFill>
                  <a:srgbClr val="000000"/>
                </a:solidFill>
                <a:latin typeface="Calibri (MS) Bold"/>
                <a:ea typeface="Calibri (MS) Bold"/>
                <a:cs typeface="Calibri (MS) Bold"/>
                <a:sym typeface="Calibri (MS) Bold"/>
              </a:rPr>
              <a:t>PROJECT</a:t>
            </a:r>
            <a:r>
              <a:rPr lang="en-US" b="true" sz="6000">
                <a:solidFill>
                  <a:srgbClr val="000000"/>
                </a:solidFill>
                <a:latin typeface="Calibri (MS) Bold"/>
                <a:ea typeface="Calibri (MS) Bold"/>
                <a:cs typeface="Calibri (MS) Bold"/>
                <a:sym typeface="Calibri (MS) Bold"/>
              </a:rPr>
              <a:t> WORKING</a:t>
            </a:r>
          </a:p>
        </p:txBody>
      </p:sp>
      <p:sp>
        <p:nvSpPr>
          <p:cNvPr name="Freeform 6" id="6"/>
          <p:cNvSpPr/>
          <p:nvPr/>
        </p:nvSpPr>
        <p:spPr>
          <a:xfrm flipH="false" flipV="false" rot="0">
            <a:off x="11169356" y="3465278"/>
            <a:ext cx="6511977" cy="3356444"/>
          </a:xfrm>
          <a:custGeom>
            <a:avLst/>
            <a:gdLst/>
            <a:ahLst/>
            <a:cxnLst/>
            <a:rect r="r" b="b" t="t" l="l"/>
            <a:pathLst>
              <a:path h="3356444" w="6511977">
                <a:moveTo>
                  <a:pt x="0" y="0"/>
                </a:moveTo>
                <a:lnTo>
                  <a:pt x="6511977" y="0"/>
                </a:lnTo>
                <a:lnTo>
                  <a:pt x="6511977" y="3356444"/>
                </a:lnTo>
                <a:lnTo>
                  <a:pt x="0" y="3356444"/>
                </a:lnTo>
                <a:lnTo>
                  <a:pt x="0" y="0"/>
                </a:lnTo>
                <a:close/>
              </a:path>
            </a:pathLst>
          </a:custGeom>
          <a:blipFill>
            <a:blip r:embed="rId5"/>
            <a:stretch>
              <a:fillRect l="0" t="-2970" r="0" b="-297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10461" y="190607"/>
            <a:ext cx="6921141" cy="1900168"/>
          </a:xfrm>
          <a:custGeom>
            <a:avLst/>
            <a:gdLst/>
            <a:ahLst/>
            <a:cxnLst/>
            <a:rect r="r" b="b" t="t" l="l"/>
            <a:pathLst>
              <a:path h="1900168" w="6921141">
                <a:moveTo>
                  <a:pt x="0" y="0"/>
                </a:moveTo>
                <a:lnTo>
                  <a:pt x="6921141" y="0"/>
                </a:lnTo>
                <a:lnTo>
                  <a:pt x="6921141" y="1900168"/>
                </a:lnTo>
                <a:lnTo>
                  <a:pt x="0" y="1900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848886" y="-28468"/>
            <a:ext cx="5644292" cy="1911418"/>
          </a:xfrm>
          <a:prstGeom prst="rect">
            <a:avLst/>
          </a:prstGeom>
        </p:spPr>
        <p:txBody>
          <a:bodyPr anchor="t" rtlCol="false" tIns="0" lIns="0" bIns="0" rIns="0">
            <a:spAutoFit/>
          </a:bodyPr>
          <a:lstStyle/>
          <a:p>
            <a:pPr algn="ctr">
              <a:lnSpc>
                <a:spcPts val="7244"/>
              </a:lnSpc>
              <a:spcBef>
                <a:spcPct val="0"/>
              </a:spcBef>
            </a:pPr>
            <a:r>
              <a:rPr lang="en-US" b="true" sz="5174">
                <a:solidFill>
                  <a:srgbClr val="000000"/>
                </a:solidFill>
                <a:latin typeface="Calibri (MS) Bold"/>
                <a:ea typeface="Calibri (MS) Bold"/>
                <a:cs typeface="Calibri (MS) Bold"/>
                <a:sym typeface="Calibri (MS) Bold"/>
              </a:rPr>
              <a:t>OUTPUT SCREENSHOTS</a:t>
            </a:r>
          </a:p>
        </p:txBody>
      </p:sp>
      <p:sp>
        <p:nvSpPr>
          <p:cNvPr name="Freeform 5" id="5"/>
          <p:cNvSpPr/>
          <p:nvPr/>
        </p:nvSpPr>
        <p:spPr>
          <a:xfrm flipH="false" flipV="false" rot="0">
            <a:off x="529623" y="2743935"/>
            <a:ext cx="6811197" cy="7189666"/>
          </a:xfrm>
          <a:custGeom>
            <a:avLst/>
            <a:gdLst/>
            <a:ahLst/>
            <a:cxnLst/>
            <a:rect r="r" b="b" t="t" l="l"/>
            <a:pathLst>
              <a:path h="7189666" w="6811197">
                <a:moveTo>
                  <a:pt x="0" y="0"/>
                </a:moveTo>
                <a:lnTo>
                  <a:pt x="6811198" y="0"/>
                </a:lnTo>
                <a:lnTo>
                  <a:pt x="6811198" y="7189666"/>
                </a:lnTo>
                <a:lnTo>
                  <a:pt x="0" y="7189666"/>
                </a:lnTo>
                <a:lnTo>
                  <a:pt x="0" y="0"/>
                </a:lnTo>
                <a:close/>
              </a:path>
            </a:pathLst>
          </a:custGeom>
          <a:blipFill>
            <a:blip r:embed="rId5"/>
            <a:stretch>
              <a:fillRect l="-845" t="0" r="-845" b="0"/>
            </a:stretch>
          </a:blipFill>
        </p:spPr>
      </p:sp>
      <p:sp>
        <p:nvSpPr>
          <p:cNvPr name="Freeform 6" id="6"/>
          <p:cNvSpPr/>
          <p:nvPr/>
        </p:nvSpPr>
        <p:spPr>
          <a:xfrm flipH="false" flipV="false" rot="0">
            <a:off x="7807546" y="1993537"/>
            <a:ext cx="6368336" cy="3584189"/>
          </a:xfrm>
          <a:custGeom>
            <a:avLst/>
            <a:gdLst/>
            <a:ahLst/>
            <a:cxnLst/>
            <a:rect r="r" b="b" t="t" l="l"/>
            <a:pathLst>
              <a:path h="3584189" w="6368336">
                <a:moveTo>
                  <a:pt x="0" y="0"/>
                </a:moveTo>
                <a:lnTo>
                  <a:pt x="6368335" y="0"/>
                </a:lnTo>
                <a:lnTo>
                  <a:pt x="6368335" y="3584189"/>
                </a:lnTo>
                <a:lnTo>
                  <a:pt x="0" y="3584189"/>
                </a:lnTo>
                <a:lnTo>
                  <a:pt x="0" y="0"/>
                </a:lnTo>
                <a:close/>
              </a:path>
            </a:pathLst>
          </a:custGeom>
          <a:blipFill>
            <a:blip r:embed="rId6"/>
            <a:stretch>
              <a:fillRect l="0" t="0" r="0" b="0"/>
            </a:stretch>
          </a:blipFill>
        </p:spPr>
      </p:sp>
      <p:sp>
        <p:nvSpPr>
          <p:cNvPr name="Freeform 7" id="7"/>
          <p:cNvSpPr/>
          <p:nvPr/>
        </p:nvSpPr>
        <p:spPr>
          <a:xfrm flipH="false" flipV="false" rot="0">
            <a:off x="14643998" y="794267"/>
            <a:ext cx="2967582" cy="4783459"/>
          </a:xfrm>
          <a:custGeom>
            <a:avLst/>
            <a:gdLst/>
            <a:ahLst/>
            <a:cxnLst/>
            <a:rect r="r" b="b" t="t" l="l"/>
            <a:pathLst>
              <a:path h="4783459" w="2967582">
                <a:moveTo>
                  <a:pt x="0" y="0"/>
                </a:moveTo>
                <a:lnTo>
                  <a:pt x="2967581" y="0"/>
                </a:lnTo>
                <a:lnTo>
                  <a:pt x="2967581" y="4783459"/>
                </a:lnTo>
                <a:lnTo>
                  <a:pt x="0" y="4783459"/>
                </a:lnTo>
                <a:lnTo>
                  <a:pt x="0" y="0"/>
                </a:lnTo>
                <a:close/>
              </a:path>
            </a:pathLst>
          </a:custGeom>
          <a:blipFill>
            <a:blip r:embed="rId7"/>
            <a:stretch>
              <a:fillRect l="0" t="0" r="0" b="0"/>
            </a:stretch>
          </a:blipFill>
        </p:spPr>
      </p:sp>
      <p:sp>
        <p:nvSpPr>
          <p:cNvPr name="Freeform 8" id="8"/>
          <p:cNvSpPr/>
          <p:nvPr/>
        </p:nvSpPr>
        <p:spPr>
          <a:xfrm flipH="false" flipV="false" rot="0">
            <a:off x="7807546" y="6115030"/>
            <a:ext cx="10082035" cy="3818571"/>
          </a:xfrm>
          <a:custGeom>
            <a:avLst/>
            <a:gdLst/>
            <a:ahLst/>
            <a:cxnLst/>
            <a:rect r="r" b="b" t="t" l="l"/>
            <a:pathLst>
              <a:path h="3818571" w="10082035">
                <a:moveTo>
                  <a:pt x="0" y="0"/>
                </a:moveTo>
                <a:lnTo>
                  <a:pt x="10082035" y="0"/>
                </a:lnTo>
                <a:lnTo>
                  <a:pt x="10082035" y="3818571"/>
                </a:lnTo>
                <a:lnTo>
                  <a:pt x="0" y="3818571"/>
                </a:lnTo>
                <a:lnTo>
                  <a:pt x="0" y="0"/>
                </a:lnTo>
                <a:close/>
              </a:path>
            </a:pathLst>
          </a:custGeom>
          <a:blipFill>
            <a:blip r:embed="rId8"/>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10461" y="190607"/>
            <a:ext cx="6921141" cy="1900168"/>
          </a:xfrm>
          <a:custGeom>
            <a:avLst/>
            <a:gdLst/>
            <a:ahLst/>
            <a:cxnLst/>
            <a:rect r="r" b="b" t="t" l="l"/>
            <a:pathLst>
              <a:path h="1900168" w="6921141">
                <a:moveTo>
                  <a:pt x="0" y="0"/>
                </a:moveTo>
                <a:lnTo>
                  <a:pt x="6921141" y="0"/>
                </a:lnTo>
                <a:lnTo>
                  <a:pt x="6921141" y="1900168"/>
                </a:lnTo>
                <a:lnTo>
                  <a:pt x="0" y="1900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848886" y="-28468"/>
            <a:ext cx="5644292" cy="1911418"/>
          </a:xfrm>
          <a:prstGeom prst="rect">
            <a:avLst/>
          </a:prstGeom>
        </p:spPr>
        <p:txBody>
          <a:bodyPr anchor="t" rtlCol="false" tIns="0" lIns="0" bIns="0" rIns="0">
            <a:spAutoFit/>
          </a:bodyPr>
          <a:lstStyle/>
          <a:p>
            <a:pPr algn="ctr">
              <a:lnSpc>
                <a:spcPts val="7244"/>
              </a:lnSpc>
              <a:spcBef>
                <a:spcPct val="0"/>
              </a:spcBef>
            </a:pPr>
            <a:r>
              <a:rPr lang="en-US" b="true" sz="5174">
                <a:solidFill>
                  <a:srgbClr val="000000"/>
                </a:solidFill>
                <a:latin typeface="Calibri (MS) Bold"/>
                <a:ea typeface="Calibri (MS) Bold"/>
                <a:cs typeface="Calibri (MS) Bold"/>
                <a:sym typeface="Calibri (MS) Bold"/>
              </a:rPr>
              <a:t>OUTPUT SCREENSHOTS</a:t>
            </a:r>
          </a:p>
        </p:txBody>
      </p:sp>
      <p:sp>
        <p:nvSpPr>
          <p:cNvPr name="Freeform 5" id="5"/>
          <p:cNvSpPr/>
          <p:nvPr/>
        </p:nvSpPr>
        <p:spPr>
          <a:xfrm flipH="false" flipV="false" rot="0">
            <a:off x="462987" y="2717763"/>
            <a:ext cx="8681013" cy="6315437"/>
          </a:xfrm>
          <a:custGeom>
            <a:avLst/>
            <a:gdLst/>
            <a:ahLst/>
            <a:cxnLst/>
            <a:rect r="r" b="b" t="t" l="l"/>
            <a:pathLst>
              <a:path h="6315437" w="8681013">
                <a:moveTo>
                  <a:pt x="0" y="0"/>
                </a:moveTo>
                <a:lnTo>
                  <a:pt x="8681013" y="0"/>
                </a:lnTo>
                <a:lnTo>
                  <a:pt x="8681013" y="6315437"/>
                </a:lnTo>
                <a:lnTo>
                  <a:pt x="0" y="6315437"/>
                </a:lnTo>
                <a:lnTo>
                  <a:pt x="0" y="0"/>
                </a:lnTo>
                <a:close/>
              </a:path>
            </a:pathLst>
          </a:custGeom>
          <a:blipFill>
            <a:blip r:embed="rId5"/>
            <a:stretch>
              <a:fillRect l="0" t="0" r="0" b="0"/>
            </a:stretch>
          </a:blipFill>
        </p:spPr>
      </p:sp>
      <p:sp>
        <p:nvSpPr>
          <p:cNvPr name="Freeform 6" id="6"/>
          <p:cNvSpPr/>
          <p:nvPr/>
        </p:nvSpPr>
        <p:spPr>
          <a:xfrm flipH="false" flipV="false" rot="0">
            <a:off x="9657633" y="2717763"/>
            <a:ext cx="8169222" cy="6315437"/>
          </a:xfrm>
          <a:custGeom>
            <a:avLst/>
            <a:gdLst/>
            <a:ahLst/>
            <a:cxnLst/>
            <a:rect r="r" b="b" t="t" l="l"/>
            <a:pathLst>
              <a:path h="6315437" w="8169222">
                <a:moveTo>
                  <a:pt x="0" y="0"/>
                </a:moveTo>
                <a:lnTo>
                  <a:pt x="8169222" y="0"/>
                </a:lnTo>
                <a:lnTo>
                  <a:pt x="8169222" y="6315437"/>
                </a:lnTo>
                <a:lnTo>
                  <a:pt x="0" y="6315437"/>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10461" y="190607"/>
            <a:ext cx="6921141" cy="1900168"/>
          </a:xfrm>
          <a:custGeom>
            <a:avLst/>
            <a:gdLst/>
            <a:ahLst/>
            <a:cxnLst/>
            <a:rect r="r" b="b" t="t" l="l"/>
            <a:pathLst>
              <a:path h="1900168" w="6921141">
                <a:moveTo>
                  <a:pt x="0" y="0"/>
                </a:moveTo>
                <a:lnTo>
                  <a:pt x="6921141" y="0"/>
                </a:lnTo>
                <a:lnTo>
                  <a:pt x="6921141" y="1900168"/>
                </a:lnTo>
                <a:lnTo>
                  <a:pt x="0" y="1900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10461" y="2924924"/>
            <a:ext cx="5431946" cy="4929591"/>
          </a:xfrm>
          <a:custGeom>
            <a:avLst/>
            <a:gdLst/>
            <a:ahLst/>
            <a:cxnLst/>
            <a:rect r="r" b="b" t="t" l="l"/>
            <a:pathLst>
              <a:path h="4929591" w="5431946">
                <a:moveTo>
                  <a:pt x="0" y="0"/>
                </a:moveTo>
                <a:lnTo>
                  <a:pt x="5431947" y="0"/>
                </a:lnTo>
                <a:lnTo>
                  <a:pt x="5431947" y="4929590"/>
                </a:lnTo>
                <a:lnTo>
                  <a:pt x="0" y="4929590"/>
                </a:lnTo>
                <a:lnTo>
                  <a:pt x="0" y="0"/>
                </a:lnTo>
                <a:close/>
              </a:path>
            </a:pathLst>
          </a:custGeom>
          <a:blipFill>
            <a:blip r:embed="rId5"/>
            <a:stretch>
              <a:fillRect l="-3428" t="0" r="-3000" b="0"/>
            </a:stretch>
          </a:blipFill>
        </p:spPr>
      </p:sp>
      <p:sp>
        <p:nvSpPr>
          <p:cNvPr name="Freeform 5" id="5"/>
          <p:cNvSpPr/>
          <p:nvPr/>
        </p:nvSpPr>
        <p:spPr>
          <a:xfrm flipH="false" flipV="false" rot="0">
            <a:off x="11566263" y="1900615"/>
            <a:ext cx="6313991" cy="6485769"/>
          </a:xfrm>
          <a:custGeom>
            <a:avLst/>
            <a:gdLst/>
            <a:ahLst/>
            <a:cxnLst/>
            <a:rect r="r" b="b" t="t" l="l"/>
            <a:pathLst>
              <a:path h="6485769" w="6313991">
                <a:moveTo>
                  <a:pt x="0" y="0"/>
                </a:moveTo>
                <a:lnTo>
                  <a:pt x="6313991" y="0"/>
                </a:lnTo>
                <a:lnTo>
                  <a:pt x="6313991" y="6485770"/>
                </a:lnTo>
                <a:lnTo>
                  <a:pt x="0" y="6485770"/>
                </a:lnTo>
                <a:lnTo>
                  <a:pt x="0" y="0"/>
                </a:lnTo>
                <a:close/>
              </a:path>
            </a:pathLst>
          </a:custGeom>
          <a:blipFill>
            <a:blip r:embed="rId6"/>
            <a:stretch>
              <a:fillRect l="-2495" t="0" r="-3921" b="0"/>
            </a:stretch>
          </a:blipFill>
        </p:spPr>
      </p:sp>
      <p:sp>
        <p:nvSpPr>
          <p:cNvPr name="Freeform 6" id="6"/>
          <p:cNvSpPr/>
          <p:nvPr/>
        </p:nvSpPr>
        <p:spPr>
          <a:xfrm flipH="false" flipV="false" rot="0">
            <a:off x="5844998" y="2578247"/>
            <a:ext cx="5521239" cy="5130506"/>
          </a:xfrm>
          <a:custGeom>
            <a:avLst/>
            <a:gdLst/>
            <a:ahLst/>
            <a:cxnLst/>
            <a:rect r="r" b="b" t="t" l="l"/>
            <a:pathLst>
              <a:path h="5130506" w="5521239">
                <a:moveTo>
                  <a:pt x="0" y="0"/>
                </a:moveTo>
                <a:lnTo>
                  <a:pt x="5521240" y="0"/>
                </a:lnTo>
                <a:lnTo>
                  <a:pt x="5521240" y="5130506"/>
                </a:lnTo>
                <a:lnTo>
                  <a:pt x="0" y="5130506"/>
                </a:lnTo>
                <a:lnTo>
                  <a:pt x="0" y="0"/>
                </a:lnTo>
                <a:close/>
              </a:path>
            </a:pathLst>
          </a:custGeom>
          <a:blipFill>
            <a:blip r:embed="rId7"/>
            <a:stretch>
              <a:fillRect l="0" t="0" r="0" b="0"/>
            </a:stretch>
          </a:blipFill>
        </p:spPr>
      </p:sp>
      <p:sp>
        <p:nvSpPr>
          <p:cNvPr name="TextBox 7" id="7"/>
          <p:cNvSpPr txBox="true"/>
          <p:nvPr/>
        </p:nvSpPr>
        <p:spPr>
          <a:xfrm rot="0">
            <a:off x="848886" y="-28468"/>
            <a:ext cx="5644292" cy="1911418"/>
          </a:xfrm>
          <a:prstGeom prst="rect">
            <a:avLst/>
          </a:prstGeom>
        </p:spPr>
        <p:txBody>
          <a:bodyPr anchor="t" rtlCol="false" tIns="0" lIns="0" bIns="0" rIns="0">
            <a:spAutoFit/>
          </a:bodyPr>
          <a:lstStyle/>
          <a:p>
            <a:pPr algn="ctr">
              <a:lnSpc>
                <a:spcPts val="7244"/>
              </a:lnSpc>
              <a:spcBef>
                <a:spcPct val="0"/>
              </a:spcBef>
            </a:pPr>
            <a:r>
              <a:rPr lang="en-US" b="true" sz="5174">
                <a:solidFill>
                  <a:srgbClr val="000000"/>
                </a:solidFill>
                <a:latin typeface="Calibri (MS) Bold"/>
                <a:ea typeface="Calibri (MS) Bold"/>
                <a:cs typeface="Calibri (MS) Bold"/>
                <a:sym typeface="Calibri (MS) Bold"/>
              </a:rPr>
              <a:t>OUTPUT SCREENSHOTS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1856064" y="524926"/>
            <a:ext cx="5030625" cy="8317442"/>
          </a:xfrm>
          <a:custGeom>
            <a:avLst/>
            <a:gdLst/>
            <a:ahLst/>
            <a:cxnLst/>
            <a:rect r="r" b="b" t="t" l="l"/>
            <a:pathLst>
              <a:path h="8317442" w="5030625">
                <a:moveTo>
                  <a:pt x="0" y="0"/>
                </a:moveTo>
                <a:lnTo>
                  <a:pt x="5030625" y="0"/>
                </a:lnTo>
                <a:lnTo>
                  <a:pt x="5030625" y="8317442"/>
                </a:lnTo>
                <a:lnTo>
                  <a:pt x="0" y="8317442"/>
                </a:lnTo>
                <a:lnTo>
                  <a:pt x="0" y="0"/>
                </a:lnTo>
                <a:close/>
              </a:path>
            </a:pathLst>
          </a:custGeom>
          <a:blipFill>
            <a:blip r:embed="rId3"/>
            <a:stretch>
              <a:fillRect l="0" t="0" r="0" b="0"/>
            </a:stretch>
          </a:blipFill>
        </p:spPr>
      </p:sp>
      <p:sp>
        <p:nvSpPr>
          <p:cNvPr name="Freeform 4" id="4"/>
          <p:cNvSpPr/>
          <p:nvPr/>
        </p:nvSpPr>
        <p:spPr>
          <a:xfrm flipH="false" flipV="false" rot="0">
            <a:off x="210461" y="190607"/>
            <a:ext cx="6921141" cy="1900168"/>
          </a:xfrm>
          <a:custGeom>
            <a:avLst/>
            <a:gdLst/>
            <a:ahLst/>
            <a:cxnLst/>
            <a:rect r="r" b="b" t="t" l="l"/>
            <a:pathLst>
              <a:path h="1900168" w="6921141">
                <a:moveTo>
                  <a:pt x="0" y="0"/>
                </a:moveTo>
                <a:lnTo>
                  <a:pt x="6921141" y="0"/>
                </a:lnTo>
                <a:lnTo>
                  <a:pt x="6921141" y="1900168"/>
                </a:lnTo>
                <a:lnTo>
                  <a:pt x="0" y="19001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45417" y="2418985"/>
            <a:ext cx="5445994" cy="5590511"/>
          </a:xfrm>
          <a:custGeom>
            <a:avLst/>
            <a:gdLst/>
            <a:ahLst/>
            <a:cxnLst/>
            <a:rect r="r" b="b" t="t" l="l"/>
            <a:pathLst>
              <a:path h="5590511" w="5445994">
                <a:moveTo>
                  <a:pt x="0" y="0"/>
                </a:moveTo>
                <a:lnTo>
                  <a:pt x="5445994" y="0"/>
                </a:lnTo>
                <a:lnTo>
                  <a:pt x="5445994" y="5590511"/>
                </a:lnTo>
                <a:lnTo>
                  <a:pt x="0" y="5590511"/>
                </a:lnTo>
                <a:lnTo>
                  <a:pt x="0" y="0"/>
                </a:lnTo>
                <a:close/>
              </a:path>
            </a:pathLst>
          </a:custGeom>
          <a:blipFill>
            <a:blip r:embed="rId6"/>
            <a:stretch>
              <a:fillRect l="0" t="0" r="0" b="0"/>
            </a:stretch>
          </a:blipFill>
        </p:spPr>
      </p:sp>
      <p:sp>
        <p:nvSpPr>
          <p:cNvPr name="Freeform 6" id="6"/>
          <p:cNvSpPr/>
          <p:nvPr/>
        </p:nvSpPr>
        <p:spPr>
          <a:xfrm flipH="false" flipV="false" rot="0">
            <a:off x="6110507" y="2218042"/>
            <a:ext cx="5590450" cy="7557239"/>
          </a:xfrm>
          <a:custGeom>
            <a:avLst/>
            <a:gdLst/>
            <a:ahLst/>
            <a:cxnLst/>
            <a:rect r="r" b="b" t="t" l="l"/>
            <a:pathLst>
              <a:path h="7557239" w="5590450">
                <a:moveTo>
                  <a:pt x="0" y="0"/>
                </a:moveTo>
                <a:lnTo>
                  <a:pt x="5590450" y="0"/>
                </a:lnTo>
                <a:lnTo>
                  <a:pt x="5590450" y="7557239"/>
                </a:lnTo>
                <a:lnTo>
                  <a:pt x="0" y="7557239"/>
                </a:lnTo>
                <a:lnTo>
                  <a:pt x="0" y="0"/>
                </a:lnTo>
                <a:close/>
              </a:path>
            </a:pathLst>
          </a:custGeom>
          <a:blipFill>
            <a:blip r:embed="rId7"/>
            <a:stretch>
              <a:fillRect l="0" t="0" r="0" b="0"/>
            </a:stretch>
          </a:blipFill>
        </p:spPr>
      </p:sp>
      <p:sp>
        <p:nvSpPr>
          <p:cNvPr name="TextBox 7" id="7"/>
          <p:cNvSpPr txBox="true"/>
          <p:nvPr/>
        </p:nvSpPr>
        <p:spPr>
          <a:xfrm rot="0">
            <a:off x="848886" y="-28468"/>
            <a:ext cx="5644292" cy="1911418"/>
          </a:xfrm>
          <a:prstGeom prst="rect">
            <a:avLst/>
          </a:prstGeom>
        </p:spPr>
        <p:txBody>
          <a:bodyPr anchor="t" rtlCol="false" tIns="0" lIns="0" bIns="0" rIns="0">
            <a:spAutoFit/>
          </a:bodyPr>
          <a:lstStyle/>
          <a:p>
            <a:pPr algn="ctr">
              <a:lnSpc>
                <a:spcPts val="7244"/>
              </a:lnSpc>
              <a:spcBef>
                <a:spcPct val="0"/>
              </a:spcBef>
            </a:pPr>
            <a:r>
              <a:rPr lang="en-US" b="true" sz="5174">
                <a:solidFill>
                  <a:srgbClr val="000000"/>
                </a:solidFill>
                <a:latin typeface="Calibri (MS) Bold"/>
                <a:ea typeface="Calibri (MS) Bold"/>
                <a:cs typeface="Calibri (MS) Bold"/>
                <a:sym typeface="Calibri (MS) Bold"/>
              </a:rPr>
              <a:t>OUTPUT SCREENSHOTS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90542" y="284662"/>
            <a:ext cx="4946336" cy="1357994"/>
          </a:xfrm>
          <a:custGeom>
            <a:avLst/>
            <a:gdLst/>
            <a:ahLst/>
            <a:cxnLst/>
            <a:rect r="r" b="b" t="t" l="l"/>
            <a:pathLst>
              <a:path h="1357994" w="4946336">
                <a:moveTo>
                  <a:pt x="0" y="0"/>
                </a:moveTo>
                <a:lnTo>
                  <a:pt x="4946335" y="0"/>
                </a:lnTo>
                <a:lnTo>
                  <a:pt x="4946335" y="1357994"/>
                </a:lnTo>
                <a:lnTo>
                  <a:pt x="0" y="13579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27446" y="357865"/>
            <a:ext cx="4472527" cy="1002038"/>
          </a:xfrm>
          <a:prstGeom prst="rect">
            <a:avLst/>
          </a:prstGeom>
        </p:spPr>
        <p:txBody>
          <a:bodyPr anchor="t" rtlCol="false" tIns="0" lIns="0" bIns="0" rIns="0">
            <a:spAutoFit/>
          </a:bodyPr>
          <a:lstStyle/>
          <a:p>
            <a:pPr algn="ctr">
              <a:lnSpc>
                <a:spcPts val="7372"/>
              </a:lnSpc>
              <a:spcBef>
                <a:spcPct val="0"/>
              </a:spcBef>
            </a:pPr>
            <a:r>
              <a:rPr lang="en-US" b="true" sz="5266">
                <a:solidFill>
                  <a:srgbClr val="000000"/>
                </a:solidFill>
                <a:latin typeface="Calibri (MS) Bold"/>
                <a:ea typeface="Calibri (MS) Bold"/>
                <a:cs typeface="Calibri (MS) Bold"/>
                <a:sym typeface="Calibri (MS) Bold"/>
              </a:rPr>
              <a:t>APPLICATIONS</a:t>
            </a:r>
          </a:p>
        </p:txBody>
      </p:sp>
      <p:sp>
        <p:nvSpPr>
          <p:cNvPr name="TextBox 5" id="5"/>
          <p:cNvSpPr txBox="true"/>
          <p:nvPr/>
        </p:nvSpPr>
        <p:spPr>
          <a:xfrm rot="0">
            <a:off x="187951" y="1604556"/>
            <a:ext cx="11949570" cy="8922551"/>
          </a:xfrm>
          <a:prstGeom prst="rect">
            <a:avLst/>
          </a:prstGeom>
        </p:spPr>
        <p:txBody>
          <a:bodyPr anchor="t" rtlCol="false" tIns="0" lIns="0" bIns="0" rIns="0">
            <a:spAutoFit/>
          </a:bodyPr>
          <a:lstStyle/>
          <a:p>
            <a:pPr algn="l">
              <a:lnSpc>
                <a:spcPts val="3383"/>
              </a:lnSpc>
            </a:pPr>
            <a:r>
              <a:rPr lang="en-US" sz="2416" b="true">
                <a:solidFill>
                  <a:srgbClr val="000000"/>
                </a:solidFill>
                <a:latin typeface="Canva Sans Bold"/>
                <a:ea typeface="Canva Sans Bold"/>
                <a:cs typeface="Canva Sans Bold"/>
                <a:sym typeface="Canva Sans Bold"/>
              </a:rPr>
              <a:t>🏦1. Banking and Financial Institutions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Detect and block fraudulent transactions in real time.</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Reduce financial losses and improve customer trust.</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Automatically flag suspicious behavior based on transaction patterns.</a:t>
            </a:r>
          </a:p>
          <a:p>
            <a:pPr algn="l">
              <a:lnSpc>
                <a:spcPts val="3383"/>
              </a:lnSpc>
            </a:pPr>
            <a:r>
              <a:rPr lang="en-US" sz="2416" b="true">
                <a:solidFill>
                  <a:srgbClr val="000000"/>
                </a:solidFill>
                <a:latin typeface="Canva Sans Bold"/>
                <a:ea typeface="Canva Sans Bold"/>
                <a:cs typeface="Canva Sans Bold"/>
                <a:sym typeface="Canva Sans Bold"/>
              </a:rPr>
              <a:t>🛍️ 2. E-commerce Platforms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Monitor online payments for potential fraud.</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Identify unusual purchase behavior (e.g., high-value, rapid transactions).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Prevent chargebacks and false claims.</a:t>
            </a:r>
          </a:p>
          <a:p>
            <a:pPr algn="l">
              <a:lnSpc>
                <a:spcPts val="3383"/>
              </a:lnSpc>
            </a:pPr>
            <a:r>
              <a:rPr lang="en-US" sz="2416" b="true">
                <a:solidFill>
                  <a:srgbClr val="000000"/>
                </a:solidFill>
                <a:latin typeface="Canva Sans Bold"/>
                <a:ea typeface="Canva Sans Bold"/>
                <a:cs typeface="Canva Sans Bold"/>
                <a:sym typeface="Canva Sans Bold"/>
              </a:rPr>
              <a:t>💳 3. Payment Gateways &amp; Digital Wallets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Integrate ML-based fraud detection models into payment systems.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Perform instant validation before approving transactions.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Adaptively learn from new fraud types and emerging attack patterns.</a:t>
            </a:r>
          </a:p>
          <a:p>
            <a:pPr algn="l">
              <a:lnSpc>
                <a:spcPts val="3383"/>
              </a:lnSpc>
            </a:pPr>
            <a:r>
              <a:rPr lang="en-US" sz="2416" b="true">
                <a:solidFill>
                  <a:srgbClr val="000000"/>
                </a:solidFill>
                <a:latin typeface="Canva Sans Bold"/>
                <a:ea typeface="Canva Sans Bold"/>
                <a:cs typeface="Canva Sans Bold"/>
                <a:sym typeface="Canva Sans Bold"/>
              </a:rPr>
              <a:t>🕵️ 4. Insurance and Loan Systems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Detect false claims and fraudulent credit applications.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Analyze applicant history and spending profiles.</a:t>
            </a:r>
          </a:p>
          <a:p>
            <a:pPr algn="l">
              <a:lnSpc>
                <a:spcPts val="3383"/>
              </a:lnSpc>
            </a:pPr>
            <a:r>
              <a:rPr lang="en-US" sz="2416" b="true">
                <a:solidFill>
                  <a:srgbClr val="000000"/>
                </a:solidFill>
                <a:latin typeface="Canva Sans Bold"/>
                <a:ea typeface="Canva Sans Bold"/>
                <a:cs typeface="Canva Sans Bold"/>
                <a:sym typeface="Canva Sans Bold"/>
              </a:rPr>
              <a:t>📊 5. Data Analytics &amp; Risk Management</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Help analysts visualize fraudulent trends.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Support decision-making for fraud prevention strategies.</a:t>
            </a:r>
          </a:p>
          <a:p>
            <a:pPr algn="l" marL="521792" indent="-260896" lvl="1">
              <a:lnSpc>
                <a:spcPts val="3383"/>
              </a:lnSpc>
              <a:buFont typeface="Arial"/>
              <a:buChar char="•"/>
            </a:pPr>
            <a:r>
              <a:rPr lang="en-US" b="true" sz="2416">
                <a:solidFill>
                  <a:srgbClr val="000000"/>
                </a:solidFill>
                <a:latin typeface="Canva Sans Bold"/>
                <a:ea typeface="Canva Sans Bold"/>
                <a:cs typeface="Canva Sans Bold"/>
                <a:sym typeface="Canva Sans Bold"/>
              </a:rPr>
              <a:t>Improve compliance and regulatory reporting.</a:t>
            </a:r>
          </a:p>
          <a:p>
            <a:pPr algn="l">
              <a:lnSpc>
                <a:spcPts val="3383"/>
              </a:lnSpc>
            </a:pPr>
          </a:p>
          <a:p>
            <a:pPr algn="l">
              <a:lnSpc>
                <a:spcPts val="3383"/>
              </a:lnSpc>
              <a:spcBef>
                <a:spcPct val="0"/>
              </a:spcBef>
            </a:pPr>
          </a:p>
        </p:txBody>
      </p:sp>
      <p:sp>
        <p:nvSpPr>
          <p:cNvPr name="Freeform 6" id="6"/>
          <p:cNvSpPr/>
          <p:nvPr/>
        </p:nvSpPr>
        <p:spPr>
          <a:xfrm flipH="false" flipV="false" rot="0">
            <a:off x="11599071" y="3494132"/>
            <a:ext cx="6451041" cy="3775671"/>
          </a:xfrm>
          <a:custGeom>
            <a:avLst/>
            <a:gdLst/>
            <a:ahLst/>
            <a:cxnLst/>
            <a:rect r="r" b="b" t="t" l="l"/>
            <a:pathLst>
              <a:path h="3775671" w="6451041">
                <a:moveTo>
                  <a:pt x="0" y="0"/>
                </a:moveTo>
                <a:lnTo>
                  <a:pt x="6451041" y="0"/>
                </a:lnTo>
                <a:lnTo>
                  <a:pt x="6451041" y="3775671"/>
                </a:lnTo>
                <a:lnTo>
                  <a:pt x="0" y="3775671"/>
                </a:lnTo>
                <a:lnTo>
                  <a:pt x="0" y="0"/>
                </a:lnTo>
                <a:close/>
              </a:path>
            </a:pathLst>
          </a:custGeom>
          <a:blipFill>
            <a:blip r:embed="rId5"/>
            <a:stretch>
              <a:fillRect l="0" t="-1481"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509399" y="78616"/>
            <a:ext cx="7520374" cy="2064685"/>
          </a:xfrm>
          <a:custGeom>
            <a:avLst/>
            <a:gdLst/>
            <a:ahLst/>
            <a:cxnLst/>
            <a:rect r="r" b="b" t="t" l="l"/>
            <a:pathLst>
              <a:path h="2064685" w="7520374">
                <a:moveTo>
                  <a:pt x="0" y="0"/>
                </a:moveTo>
                <a:lnTo>
                  <a:pt x="7520374" y="0"/>
                </a:lnTo>
                <a:lnTo>
                  <a:pt x="7520374" y="2064685"/>
                </a:lnTo>
                <a:lnTo>
                  <a:pt x="0" y="20646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97030" y="1900168"/>
            <a:ext cx="5853115" cy="2573573"/>
          </a:xfrm>
          <a:custGeom>
            <a:avLst/>
            <a:gdLst/>
            <a:ahLst/>
            <a:cxnLst/>
            <a:rect r="r" b="b" t="t" l="l"/>
            <a:pathLst>
              <a:path h="2573573" w="5853115">
                <a:moveTo>
                  <a:pt x="0" y="0"/>
                </a:moveTo>
                <a:lnTo>
                  <a:pt x="5853114" y="0"/>
                </a:lnTo>
                <a:lnTo>
                  <a:pt x="5853114" y="2573573"/>
                </a:lnTo>
                <a:lnTo>
                  <a:pt x="0" y="25735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800000">
            <a:off x="92915" y="4623683"/>
            <a:ext cx="6269574" cy="2756688"/>
          </a:xfrm>
          <a:custGeom>
            <a:avLst/>
            <a:gdLst/>
            <a:ahLst/>
            <a:cxnLst/>
            <a:rect r="r" b="b" t="t" l="l"/>
            <a:pathLst>
              <a:path h="2756688" w="6269574">
                <a:moveTo>
                  <a:pt x="0" y="0"/>
                </a:moveTo>
                <a:lnTo>
                  <a:pt x="6269574" y="0"/>
                </a:lnTo>
                <a:lnTo>
                  <a:pt x="6269574" y="2756688"/>
                </a:lnTo>
                <a:lnTo>
                  <a:pt x="0" y="27566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0800000">
            <a:off x="197030" y="7530312"/>
            <a:ext cx="6061344" cy="2665131"/>
          </a:xfrm>
          <a:custGeom>
            <a:avLst/>
            <a:gdLst/>
            <a:ahLst/>
            <a:cxnLst/>
            <a:rect r="r" b="b" t="t" l="l"/>
            <a:pathLst>
              <a:path h="2665131" w="6061344">
                <a:moveTo>
                  <a:pt x="0" y="0"/>
                </a:moveTo>
                <a:lnTo>
                  <a:pt x="6061344" y="0"/>
                </a:lnTo>
                <a:lnTo>
                  <a:pt x="6061344" y="2665131"/>
                </a:lnTo>
                <a:lnTo>
                  <a:pt x="0" y="2665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2144690" y="1995099"/>
            <a:ext cx="5853115" cy="2573573"/>
          </a:xfrm>
          <a:custGeom>
            <a:avLst/>
            <a:gdLst/>
            <a:ahLst/>
            <a:cxnLst/>
            <a:rect r="r" b="b" t="t" l="l"/>
            <a:pathLst>
              <a:path h="2573573" w="5853115">
                <a:moveTo>
                  <a:pt x="0" y="0"/>
                </a:moveTo>
                <a:lnTo>
                  <a:pt x="5853115" y="0"/>
                </a:lnTo>
                <a:lnTo>
                  <a:pt x="5853115" y="2573573"/>
                </a:lnTo>
                <a:lnTo>
                  <a:pt x="0" y="25735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144690" y="4806797"/>
            <a:ext cx="5853115" cy="2573573"/>
          </a:xfrm>
          <a:custGeom>
            <a:avLst/>
            <a:gdLst/>
            <a:ahLst/>
            <a:cxnLst/>
            <a:rect r="r" b="b" t="t" l="l"/>
            <a:pathLst>
              <a:path h="2573573" w="5853115">
                <a:moveTo>
                  <a:pt x="0" y="0"/>
                </a:moveTo>
                <a:lnTo>
                  <a:pt x="5853115" y="0"/>
                </a:lnTo>
                <a:lnTo>
                  <a:pt x="5853115" y="2573574"/>
                </a:lnTo>
                <a:lnTo>
                  <a:pt x="0" y="25735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2144690" y="7621869"/>
            <a:ext cx="5853115" cy="2573573"/>
          </a:xfrm>
          <a:custGeom>
            <a:avLst/>
            <a:gdLst/>
            <a:ahLst/>
            <a:cxnLst/>
            <a:rect r="r" b="b" t="t" l="l"/>
            <a:pathLst>
              <a:path h="2573573" w="5853115">
                <a:moveTo>
                  <a:pt x="0" y="0"/>
                </a:moveTo>
                <a:lnTo>
                  <a:pt x="5853115" y="0"/>
                </a:lnTo>
                <a:lnTo>
                  <a:pt x="5853115" y="2573574"/>
                </a:lnTo>
                <a:lnTo>
                  <a:pt x="0" y="25735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6258374" y="-140176"/>
            <a:ext cx="6448580" cy="2109153"/>
          </a:xfrm>
          <a:prstGeom prst="rect">
            <a:avLst/>
          </a:prstGeom>
        </p:spPr>
        <p:txBody>
          <a:bodyPr anchor="t" rtlCol="false" tIns="0" lIns="0" bIns="0" rIns="0">
            <a:spAutoFit/>
          </a:bodyPr>
          <a:lstStyle/>
          <a:p>
            <a:pPr algn="ctr">
              <a:lnSpc>
                <a:spcPts val="7991"/>
              </a:lnSpc>
              <a:spcBef>
                <a:spcPct val="0"/>
              </a:spcBef>
            </a:pPr>
            <a:r>
              <a:rPr lang="en-US" b="true" sz="5708">
                <a:solidFill>
                  <a:srgbClr val="000000"/>
                </a:solidFill>
                <a:latin typeface="Calibri (MS) Bold"/>
                <a:ea typeface="Calibri (MS) Bold"/>
                <a:cs typeface="Calibri (MS) Bold"/>
                <a:sym typeface="Calibri (MS) Bold"/>
              </a:rPr>
              <a:t>PROBLEMS</a:t>
            </a:r>
            <a:r>
              <a:rPr lang="en-US" b="true" sz="5708">
                <a:solidFill>
                  <a:srgbClr val="000000"/>
                </a:solidFill>
                <a:latin typeface="Calibri (MS) Bold"/>
                <a:ea typeface="Calibri (MS) Bold"/>
                <a:cs typeface="Calibri (MS) Bold"/>
                <a:sym typeface="Calibri (MS) Bold"/>
              </a:rPr>
              <a:t> &amp; SOLUTIONS</a:t>
            </a:r>
          </a:p>
        </p:txBody>
      </p:sp>
      <p:sp>
        <p:nvSpPr>
          <p:cNvPr name="TextBox 11" id="11"/>
          <p:cNvSpPr txBox="true"/>
          <p:nvPr/>
        </p:nvSpPr>
        <p:spPr>
          <a:xfrm rot="0">
            <a:off x="1208780" y="2219576"/>
            <a:ext cx="4100764" cy="1667875"/>
          </a:xfrm>
          <a:prstGeom prst="rect">
            <a:avLst/>
          </a:prstGeom>
        </p:spPr>
        <p:txBody>
          <a:bodyPr anchor="t" rtlCol="false" tIns="0" lIns="0" bIns="0" rIns="0">
            <a:spAutoFit/>
          </a:bodyPr>
          <a:lstStyle/>
          <a:p>
            <a:pPr algn="ctr">
              <a:lnSpc>
                <a:spcPts val="4264"/>
              </a:lnSpc>
              <a:spcBef>
                <a:spcPct val="0"/>
              </a:spcBef>
            </a:pPr>
            <a:r>
              <a:rPr lang="en-US" b="true" sz="3046">
                <a:solidFill>
                  <a:srgbClr val="000000"/>
                </a:solidFill>
                <a:latin typeface="Calibri (MS) Bold"/>
                <a:ea typeface="Calibri (MS) Bold"/>
                <a:cs typeface="Calibri (MS) Bold"/>
                <a:sym typeface="Calibri (MS) Bold"/>
              </a:rPr>
              <a:t>Imb</a:t>
            </a:r>
            <a:r>
              <a:rPr lang="en-US" b="true" sz="3046">
                <a:solidFill>
                  <a:srgbClr val="000000"/>
                </a:solidFill>
                <a:latin typeface="Calibri (MS) Bold"/>
                <a:ea typeface="Calibri (MS) Bold"/>
                <a:cs typeface="Calibri (MS) Bold"/>
                <a:sym typeface="Calibri (MS) Bold"/>
              </a:rPr>
              <a:t>alanced dataset(fraud &lt;&lt; non fraud)</a:t>
            </a:r>
          </a:p>
        </p:txBody>
      </p:sp>
      <p:sp>
        <p:nvSpPr>
          <p:cNvPr name="TextBox 12" id="12"/>
          <p:cNvSpPr txBox="true"/>
          <p:nvPr/>
        </p:nvSpPr>
        <p:spPr>
          <a:xfrm rot="0">
            <a:off x="408055" y="5504598"/>
            <a:ext cx="6269574" cy="823407"/>
          </a:xfrm>
          <a:prstGeom prst="rect">
            <a:avLst/>
          </a:prstGeom>
        </p:spPr>
        <p:txBody>
          <a:bodyPr anchor="t" rtlCol="false" tIns="0" lIns="0" bIns="0" rIns="0">
            <a:spAutoFit/>
          </a:bodyPr>
          <a:lstStyle/>
          <a:p>
            <a:pPr algn="ctr">
              <a:lnSpc>
                <a:spcPts val="6065"/>
              </a:lnSpc>
              <a:spcBef>
                <a:spcPct val="0"/>
              </a:spcBef>
            </a:pPr>
            <a:r>
              <a:rPr lang="en-US" b="true" sz="4332">
                <a:solidFill>
                  <a:srgbClr val="000000"/>
                </a:solidFill>
                <a:latin typeface="Calibri (MS) Bold"/>
                <a:ea typeface="Calibri (MS) Bold"/>
                <a:cs typeface="Calibri (MS) Bold"/>
                <a:sym typeface="Calibri (MS) Bold"/>
              </a:rPr>
              <a:t>M</a:t>
            </a:r>
            <a:r>
              <a:rPr lang="en-US" b="true" sz="4332">
                <a:solidFill>
                  <a:srgbClr val="000000"/>
                </a:solidFill>
                <a:latin typeface="Calibri (MS) Bold"/>
                <a:ea typeface="Calibri (MS) Bold"/>
                <a:cs typeface="Calibri (MS) Bold"/>
                <a:sym typeface="Calibri (MS) Bold"/>
              </a:rPr>
              <a:t>odel overfitting</a:t>
            </a:r>
          </a:p>
        </p:txBody>
      </p:sp>
      <p:sp>
        <p:nvSpPr>
          <p:cNvPr name="TextBox 13" id="13"/>
          <p:cNvSpPr txBox="true"/>
          <p:nvPr/>
        </p:nvSpPr>
        <p:spPr>
          <a:xfrm rot="0">
            <a:off x="1306210" y="7892455"/>
            <a:ext cx="4473265" cy="1750345"/>
          </a:xfrm>
          <a:prstGeom prst="rect">
            <a:avLst/>
          </a:prstGeom>
        </p:spPr>
        <p:txBody>
          <a:bodyPr anchor="t" rtlCol="false" tIns="0" lIns="0" bIns="0" rIns="0">
            <a:spAutoFit/>
          </a:bodyPr>
          <a:lstStyle/>
          <a:p>
            <a:pPr algn="ctr">
              <a:lnSpc>
                <a:spcPts val="6628"/>
              </a:lnSpc>
              <a:spcBef>
                <a:spcPct val="0"/>
              </a:spcBef>
            </a:pPr>
            <a:r>
              <a:rPr lang="en-US" b="true" sz="4734">
                <a:solidFill>
                  <a:srgbClr val="000000"/>
                </a:solidFill>
                <a:latin typeface="Calibri (MS) Bold"/>
                <a:ea typeface="Calibri (MS) Bold"/>
                <a:cs typeface="Calibri (MS) Bold"/>
                <a:sym typeface="Calibri (MS) Bold"/>
              </a:rPr>
              <a:t>Missing</a:t>
            </a:r>
            <a:r>
              <a:rPr lang="en-US" b="true" sz="4734">
                <a:solidFill>
                  <a:srgbClr val="000000"/>
                </a:solidFill>
                <a:latin typeface="Calibri (MS) Bold"/>
                <a:ea typeface="Calibri (MS) Bold"/>
                <a:cs typeface="Calibri (MS) Bold"/>
                <a:sym typeface="Calibri (MS) Bold"/>
              </a:rPr>
              <a:t> / incorrect records</a:t>
            </a:r>
          </a:p>
        </p:txBody>
      </p:sp>
      <p:sp>
        <p:nvSpPr>
          <p:cNvPr name="TextBox 14" id="14"/>
          <p:cNvSpPr txBox="true"/>
          <p:nvPr/>
        </p:nvSpPr>
        <p:spPr>
          <a:xfrm rot="0">
            <a:off x="12324771" y="2442497"/>
            <a:ext cx="4704990" cy="1336515"/>
          </a:xfrm>
          <a:prstGeom prst="rect">
            <a:avLst/>
          </a:prstGeom>
        </p:spPr>
        <p:txBody>
          <a:bodyPr anchor="t" rtlCol="false" tIns="0" lIns="0" bIns="0" rIns="0">
            <a:spAutoFit/>
          </a:bodyPr>
          <a:lstStyle/>
          <a:p>
            <a:pPr algn="ctr">
              <a:lnSpc>
                <a:spcPts val="5031"/>
              </a:lnSpc>
              <a:spcBef>
                <a:spcPct val="0"/>
              </a:spcBef>
            </a:pPr>
            <a:r>
              <a:rPr lang="en-US" b="true" sz="3594">
                <a:solidFill>
                  <a:srgbClr val="000000"/>
                </a:solidFill>
                <a:latin typeface="Calibri (MS) Bold"/>
                <a:ea typeface="Calibri (MS) Bold"/>
                <a:cs typeface="Calibri (MS) Bold"/>
                <a:sym typeface="Calibri (MS) Bold"/>
              </a:rPr>
              <a:t>Used SMOTE</a:t>
            </a:r>
            <a:r>
              <a:rPr lang="en-US" b="true" sz="3594">
                <a:solidFill>
                  <a:srgbClr val="000000"/>
                </a:solidFill>
                <a:latin typeface="Calibri (MS) Bold"/>
                <a:ea typeface="Calibri (MS) Bold"/>
                <a:cs typeface="Calibri (MS) Bold"/>
                <a:sym typeface="Calibri (MS) Bold"/>
              </a:rPr>
              <a:t> oversampling technique</a:t>
            </a:r>
          </a:p>
        </p:txBody>
      </p:sp>
      <p:sp>
        <p:nvSpPr>
          <p:cNvPr name="TextBox 15" id="15"/>
          <p:cNvSpPr txBox="true"/>
          <p:nvPr/>
        </p:nvSpPr>
        <p:spPr>
          <a:xfrm rot="0">
            <a:off x="12408763" y="5364969"/>
            <a:ext cx="4537005" cy="1317728"/>
          </a:xfrm>
          <a:prstGeom prst="rect">
            <a:avLst/>
          </a:prstGeom>
        </p:spPr>
        <p:txBody>
          <a:bodyPr anchor="t" rtlCol="false" tIns="0" lIns="0" bIns="0" rIns="0">
            <a:spAutoFit/>
          </a:bodyPr>
          <a:lstStyle/>
          <a:p>
            <a:pPr algn="ctr">
              <a:lnSpc>
                <a:spcPts val="4992"/>
              </a:lnSpc>
              <a:spcBef>
                <a:spcPct val="0"/>
              </a:spcBef>
            </a:pPr>
            <a:r>
              <a:rPr lang="en-US" b="true" sz="3566">
                <a:solidFill>
                  <a:srgbClr val="000000"/>
                </a:solidFill>
                <a:latin typeface="Calibri (MS) Bold"/>
                <a:ea typeface="Calibri (MS) Bold"/>
                <a:cs typeface="Calibri (MS) Bold"/>
                <a:sym typeface="Calibri (MS) Bold"/>
              </a:rPr>
              <a:t>Used reg</a:t>
            </a:r>
            <a:r>
              <a:rPr lang="en-US" b="true" sz="3566">
                <a:solidFill>
                  <a:srgbClr val="000000"/>
                </a:solidFill>
                <a:latin typeface="Calibri (MS) Bold"/>
                <a:ea typeface="Calibri (MS) Bold"/>
                <a:cs typeface="Calibri (MS) Bold"/>
                <a:sym typeface="Calibri (MS) Bold"/>
              </a:rPr>
              <a:t>ularization and cross -validaton</a:t>
            </a:r>
          </a:p>
        </p:txBody>
      </p:sp>
      <p:sp>
        <p:nvSpPr>
          <p:cNvPr name="TextBox 16" id="16"/>
          <p:cNvSpPr txBox="true"/>
          <p:nvPr/>
        </p:nvSpPr>
        <p:spPr>
          <a:xfrm rot="0">
            <a:off x="12515862" y="8007677"/>
            <a:ext cx="4322807" cy="1620984"/>
          </a:xfrm>
          <a:prstGeom prst="rect">
            <a:avLst/>
          </a:prstGeom>
        </p:spPr>
        <p:txBody>
          <a:bodyPr anchor="t" rtlCol="false" tIns="0" lIns="0" bIns="0" rIns="0">
            <a:spAutoFit/>
          </a:bodyPr>
          <a:lstStyle/>
          <a:p>
            <a:pPr algn="ctr">
              <a:lnSpc>
                <a:spcPts val="6119"/>
              </a:lnSpc>
              <a:spcBef>
                <a:spcPct val="0"/>
              </a:spcBef>
            </a:pPr>
            <a:r>
              <a:rPr lang="en-US" b="true" sz="4371">
                <a:solidFill>
                  <a:srgbClr val="000000"/>
                </a:solidFill>
                <a:latin typeface="Calibri (MS) Bold"/>
                <a:ea typeface="Calibri (MS) Bold"/>
                <a:cs typeface="Calibri (MS) Bold"/>
                <a:sym typeface="Calibri (MS) Bold"/>
              </a:rPr>
              <a:t>Cle</a:t>
            </a:r>
            <a:r>
              <a:rPr lang="en-US" b="true" sz="4371">
                <a:solidFill>
                  <a:srgbClr val="000000"/>
                </a:solidFill>
                <a:latin typeface="Calibri (MS) Bold"/>
                <a:ea typeface="Calibri (MS) Bold"/>
                <a:cs typeface="Calibri (MS) Bold"/>
                <a:sym typeface="Calibri (MS) Bold"/>
              </a:rPr>
              <a:t>aned and preprocessed data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724642"/>
            <a:ext cx="15782318" cy="8303079"/>
          </a:xfrm>
          <a:prstGeom prst="rect">
            <a:avLst/>
          </a:prstGeom>
        </p:spPr>
        <p:txBody>
          <a:bodyPr anchor="t" rtlCol="false" tIns="0" lIns="0" bIns="0" rIns="0">
            <a:spAutoFit/>
          </a:bodyPr>
          <a:lstStyle/>
          <a:p>
            <a:pPr algn="l">
              <a:lnSpc>
                <a:spcPts val="3825"/>
              </a:lnSpc>
              <a:spcBef>
                <a:spcPct val="0"/>
              </a:spcBef>
            </a:pPr>
            <a:r>
              <a:rPr lang="en-US" b="true" sz="2732">
                <a:solidFill>
                  <a:srgbClr val="000000"/>
                </a:solidFill>
                <a:latin typeface="Calibri (MS) Bold"/>
                <a:ea typeface="Calibri (MS) Bold"/>
                <a:cs typeface="Calibri (MS) Bold"/>
                <a:sym typeface="Calibri (MS) Bold"/>
              </a:rPr>
              <a:t>1. Real-Time Fraud Detection Systems</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Integrate advanced streaming data frameworks (e.g., Apache Kafka, Spark) for detecting fraud as transactions occur.</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2. Deep Learning Integration</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Use LSTM and Autoencoders to capture temporal dependencies and hidden fraud patterns</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3. Explainable AI (XAI)</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Implement interpretable models to explain why a transaction was marked as fraudulent, improving trust and transparency.</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4. Adaptive Feature Engineering</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Develop self-learning systems that automatically update features as fraud patterns evolve over time.</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5. Global Fraud Data Collaboration</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Create cross-institutional data-sharing platforms (with anonymization) to improve model training and robustness.</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6. Integration with Blockchain</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Enhance data security, transparency, and immutability in transaction tracking.</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7. Edge AI Implementation</a:t>
            </a:r>
          </a:p>
          <a:p>
            <a:pPr algn="l">
              <a:lnSpc>
                <a:spcPts val="3825"/>
              </a:lnSpc>
              <a:spcBef>
                <a:spcPct val="0"/>
              </a:spcBef>
            </a:pPr>
            <a:r>
              <a:rPr lang="en-US" b="true" sz="2732">
                <a:solidFill>
                  <a:srgbClr val="000000"/>
                </a:solidFill>
                <a:latin typeface="Calibri (MS) Bold"/>
                <a:ea typeface="Calibri (MS) Bold"/>
                <a:cs typeface="Calibri (MS) Bold"/>
                <a:sym typeface="Calibri (MS) Bold"/>
              </a:rPr>
              <a:t>Deploy lightweight models on mobile or POS devices for on-device fraud detection with minimal latency.</a:t>
            </a:r>
          </a:p>
        </p:txBody>
      </p:sp>
      <p:sp>
        <p:nvSpPr>
          <p:cNvPr name="Freeform 4" id="4"/>
          <p:cNvSpPr/>
          <p:nvPr/>
        </p:nvSpPr>
        <p:spPr>
          <a:xfrm flipH="false" flipV="false" rot="0">
            <a:off x="1096479" y="218458"/>
            <a:ext cx="5902424" cy="1620484"/>
          </a:xfrm>
          <a:custGeom>
            <a:avLst/>
            <a:gdLst/>
            <a:ahLst/>
            <a:cxnLst/>
            <a:rect r="r" b="b" t="t" l="l"/>
            <a:pathLst>
              <a:path h="1620484" w="5902424">
                <a:moveTo>
                  <a:pt x="0" y="0"/>
                </a:moveTo>
                <a:lnTo>
                  <a:pt x="5902424" y="0"/>
                </a:lnTo>
                <a:lnTo>
                  <a:pt x="5902424" y="1620484"/>
                </a:lnTo>
                <a:lnTo>
                  <a:pt x="0" y="16204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380988" y="249946"/>
            <a:ext cx="5333407" cy="1281282"/>
          </a:xfrm>
          <a:prstGeom prst="rect">
            <a:avLst/>
          </a:prstGeom>
        </p:spPr>
        <p:txBody>
          <a:bodyPr anchor="t" rtlCol="false" tIns="0" lIns="0" bIns="0" rIns="0">
            <a:spAutoFit/>
          </a:bodyPr>
          <a:lstStyle/>
          <a:p>
            <a:pPr algn="ctr">
              <a:lnSpc>
                <a:spcPts val="9319"/>
              </a:lnSpc>
              <a:spcBef>
                <a:spcPct val="0"/>
              </a:spcBef>
            </a:pPr>
            <a:r>
              <a:rPr lang="en-US" b="true" sz="6656">
                <a:solidFill>
                  <a:srgbClr val="000000"/>
                </a:solidFill>
                <a:latin typeface="Calibri (MS) Bold"/>
                <a:ea typeface="Calibri (MS) Bold"/>
                <a:cs typeface="Calibri (MS) Bold"/>
                <a:sym typeface="Calibri (MS) Bold"/>
              </a:rPr>
              <a:t>FUTURE SCOPE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060869" y="2424172"/>
            <a:ext cx="1377350" cy="1377350"/>
          </a:xfrm>
          <a:custGeom>
            <a:avLst/>
            <a:gdLst/>
            <a:ahLst/>
            <a:cxnLst/>
            <a:rect r="r" b="b" t="t" l="l"/>
            <a:pathLst>
              <a:path h="1377350" w="1377350">
                <a:moveTo>
                  <a:pt x="0" y="0"/>
                </a:moveTo>
                <a:lnTo>
                  <a:pt x="1377350" y="0"/>
                </a:lnTo>
                <a:lnTo>
                  <a:pt x="1377350" y="1377350"/>
                </a:lnTo>
                <a:lnTo>
                  <a:pt x="0" y="1377350"/>
                </a:lnTo>
                <a:lnTo>
                  <a:pt x="0" y="0"/>
                </a:lnTo>
                <a:close/>
              </a:path>
            </a:pathLst>
          </a:custGeom>
          <a:blipFill>
            <a:blip r:embed="rId3"/>
            <a:stretch>
              <a:fillRect l="0" t="0" r="0" b="0"/>
            </a:stretch>
          </a:blipFill>
        </p:spPr>
      </p:sp>
      <p:sp>
        <p:nvSpPr>
          <p:cNvPr name="Freeform 4" id="4"/>
          <p:cNvSpPr/>
          <p:nvPr/>
        </p:nvSpPr>
        <p:spPr>
          <a:xfrm flipH="false" flipV="false" rot="0">
            <a:off x="1907222" y="6487482"/>
            <a:ext cx="1377350" cy="1377350"/>
          </a:xfrm>
          <a:custGeom>
            <a:avLst/>
            <a:gdLst/>
            <a:ahLst/>
            <a:cxnLst/>
            <a:rect r="r" b="b" t="t" l="l"/>
            <a:pathLst>
              <a:path h="1377350" w="1377350">
                <a:moveTo>
                  <a:pt x="0" y="0"/>
                </a:moveTo>
                <a:lnTo>
                  <a:pt x="1377350" y="0"/>
                </a:lnTo>
                <a:lnTo>
                  <a:pt x="1377350" y="1377350"/>
                </a:lnTo>
                <a:lnTo>
                  <a:pt x="0" y="1377350"/>
                </a:lnTo>
                <a:lnTo>
                  <a:pt x="0" y="0"/>
                </a:lnTo>
                <a:close/>
              </a:path>
            </a:pathLst>
          </a:custGeom>
          <a:blipFill>
            <a:blip r:embed="rId3"/>
            <a:stretch>
              <a:fillRect l="0" t="0" r="0" b="0"/>
            </a:stretch>
          </a:blipFill>
        </p:spPr>
      </p:sp>
      <p:sp>
        <p:nvSpPr>
          <p:cNvPr name="Freeform 5" id="5"/>
          <p:cNvSpPr/>
          <p:nvPr/>
        </p:nvSpPr>
        <p:spPr>
          <a:xfrm flipH="false" flipV="false" rot="0">
            <a:off x="1907222" y="4604423"/>
            <a:ext cx="1377350" cy="1377350"/>
          </a:xfrm>
          <a:custGeom>
            <a:avLst/>
            <a:gdLst/>
            <a:ahLst/>
            <a:cxnLst/>
            <a:rect r="r" b="b" t="t" l="l"/>
            <a:pathLst>
              <a:path h="1377350" w="1377350">
                <a:moveTo>
                  <a:pt x="0" y="0"/>
                </a:moveTo>
                <a:lnTo>
                  <a:pt x="1377350" y="0"/>
                </a:lnTo>
                <a:lnTo>
                  <a:pt x="1377350" y="1377350"/>
                </a:lnTo>
                <a:lnTo>
                  <a:pt x="0" y="1377350"/>
                </a:lnTo>
                <a:lnTo>
                  <a:pt x="0" y="0"/>
                </a:lnTo>
                <a:close/>
              </a:path>
            </a:pathLst>
          </a:custGeom>
          <a:blipFill>
            <a:blip r:embed="rId3"/>
            <a:stretch>
              <a:fillRect l="0" t="0" r="0" b="0"/>
            </a:stretch>
          </a:blipFill>
        </p:spPr>
      </p:sp>
      <p:sp>
        <p:nvSpPr>
          <p:cNvPr name="TextBox 6" id="6"/>
          <p:cNvSpPr txBox="true"/>
          <p:nvPr/>
        </p:nvSpPr>
        <p:spPr>
          <a:xfrm rot="0">
            <a:off x="3531616" y="2502290"/>
            <a:ext cx="3706416" cy="1002039"/>
          </a:xfrm>
          <a:prstGeom prst="rect">
            <a:avLst/>
          </a:prstGeom>
        </p:spPr>
        <p:txBody>
          <a:bodyPr anchor="t" rtlCol="false" tIns="0" lIns="0" bIns="0" rIns="0">
            <a:spAutoFit/>
          </a:bodyPr>
          <a:lstStyle/>
          <a:p>
            <a:pPr algn="ctr">
              <a:lnSpc>
                <a:spcPts val="7244"/>
              </a:lnSpc>
              <a:spcBef>
                <a:spcPct val="0"/>
              </a:spcBef>
            </a:pPr>
            <a:r>
              <a:rPr lang="en-US" b="true" sz="5174">
                <a:solidFill>
                  <a:srgbClr val="000000"/>
                </a:solidFill>
                <a:latin typeface="Calibri (MS) Bold"/>
                <a:ea typeface="Calibri (MS) Bold"/>
                <a:cs typeface="Calibri (MS) Bold"/>
                <a:sym typeface="Calibri (MS) Bold"/>
              </a:rPr>
              <a:t>GITHUB LINK:</a:t>
            </a:r>
          </a:p>
        </p:txBody>
      </p:sp>
      <p:sp>
        <p:nvSpPr>
          <p:cNvPr name="TextBox 7" id="7"/>
          <p:cNvSpPr txBox="true"/>
          <p:nvPr/>
        </p:nvSpPr>
        <p:spPr>
          <a:xfrm rot="0">
            <a:off x="3438219" y="4534904"/>
            <a:ext cx="3795323" cy="1002039"/>
          </a:xfrm>
          <a:prstGeom prst="rect">
            <a:avLst/>
          </a:prstGeom>
        </p:spPr>
        <p:txBody>
          <a:bodyPr anchor="t" rtlCol="false" tIns="0" lIns="0" bIns="0" rIns="0">
            <a:spAutoFit/>
          </a:bodyPr>
          <a:lstStyle/>
          <a:p>
            <a:pPr algn="ctr">
              <a:lnSpc>
                <a:spcPts val="7244"/>
              </a:lnSpc>
              <a:spcBef>
                <a:spcPct val="0"/>
              </a:spcBef>
            </a:pPr>
            <a:r>
              <a:rPr lang="en-US" b="true" sz="5174">
                <a:solidFill>
                  <a:srgbClr val="000000"/>
                </a:solidFill>
                <a:latin typeface="Calibri (MS) Bold"/>
                <a:ea typeface="Calibri (MS) Bold"/>
                <a:cs typeface="Calibri (MS) Bold"/>
                <a:sym typeface="Calibri (MS) Bold"/>
              </a:rPr>
              <a:t>PORTAL LINK:</a:t>
            </a:r>
          </a:p>
        </p:txBody>
      </p:sp>
      <p:sp>
        <p:nvSpPr>
          <p:cNvPr name="TextBox 8" id="8"/>
          <p:cNvSpPr txBox="true"/>
          <p:nvPr/>
        </p:nvSpPr>
        <p:spPr>
          <a:xfrm rot="0">
            <a:off x="3438219" y="6565600"/>
            <a:ext cx="3525203" cy="1002039"/>
          </a:xfrm>
          <a:prstGeom prst="rect">
            <a:avLst/>
          </a:prstGeom>
        </p:spPr>
        <p:txBody>
          <a:bodyPr anchor="t" rtlCol="false" tIns="0" lIns="0" bIns="0" rIns="0">
            <a:spAutoFit/>
          </a:bodyPr>
          <a:lstStyle/>
          <a:p>
            <a:pPr algn="ctr">
              <a:lnSpc>
                <a:spcPts val="7244"/>
              </a:lnSpc>
              <a:spcBef>
                <a:spcPct val="0"/>
              </a:spcBef>
            </a:pPr>
            <a:r>
              <a:rPr lang="en-US" b="true" sz="5174">
                <a:solidFill>
                  <a:srgbClr val="000000"/>
                </a:solidFill>
                <a:latin typeface="Calibri (MS) Bold"/>
                <a:ea typeface="Calibri (MS) Bold"/>
                <a:cs typeface="Calibri (MS) Bold"/>
                <a:sym typeface="Calibri (MS) Bold"/>
              </a:rPr>
              <a:t>DRIVE LINK:</a:t>
            </a:r>
          </a:p>
        </p:txBody>
      </p:sp>
      <p:sp>
        <p:nvSpPr>
          <p:cNvPr name="Freeform 9" id="9"/>
          <p:cNvSpPr/>
          <p:nvPr/>
        </p:nvSpPr>
        <p:spPr>
          <a:xfrm flipH="false" flipV="false" rot="0">
            <a:off x="5476562" y="78616"/>
            <a:ext cx="7334876" cy="2013757"/>
          </a:xfrm>
          <a:custGeom>
            <a:avLst/>
            <a:gdLst/>
            <a:ahLst/>
            <a:cxnLst/>
            <a:rect r="r" b="b" t="t" l="l"/>
            <a:pathLst>
              <a:path h="2013757" w="7334876">
                <a:moveTo>
                  <a:pt x="0" y="0"/>
                </a:moveTo>
                <a:lnTo>
                  <a:pt x="7334876" y="0"/>
                </a:lnTo>
                <a:lnTo>
                  <a:pt x="7334876" y="2013757"/>
                </a:lnTo>
                <a:lnTo>
                  <a:pt x="0" y="20137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5988979" y="-13342"/>
            <a:ext cx="6310041" cy="1978599"/>
          </a:xfrm>
          <a:prstGeom prst="rect">
            <a:avLst/>
          </a:prstGeom>
        </p:spPr>
        <p:txBody>
          <a:bodyPr anchor="t" rtlCol="false" tIns="0" lIns="0" bIns="0" rIns="0">
            <a:spAutoFit/>
          </a:bodyPr>
          <a:lstStyle/>
          <a:p>
            <a:pPr algn="ctr">
              <a:lnSpc>
                <a:spcPts val="7509"/>
              </a:lnSpc>
              <a:spcBef>
                <a:spcPct val="0"/>
              </a:spcBef>
            </a:pPr>
            <a:r>
              <a:rPr lang="en-US" b="true" sz="5364">
                <a:solidFill>
                  <a:srgbClr val="000000"/>
                </a:solidFill>
                <a:latin typeface="Calibri (MS) Bold"/>
                <a:ea typeface="Calibri (MS) Bold"/>
                <a:cs typeface="Calibri (MS) Bold"/>
                <a:sym typeface="Calibri (MS) Bold"/>
              </a:rPr>
              <a:t>LINKS TO THE PROJECT</a:t>
            </a:r>
          </a:p>
        </p:txBody>
      </p:sp>
      <p:sp>
        <p:nvSpPr>
          <p:cNvPr name="TextBox 11" id="11"/>
          <p:cNvSpPr txBox="true"/>
          <p:nvPr/>
        </p:nvSpPr>
        <p:spPr>
          <a:xfrm rot="0">
            <a:off x="7115821" y="6799704"/>
            <a:ext cx="9795185" cy="1065128"/>
          </a:xfrm>
          <a:prstGeom prst="rect">
            <a:avLst/>
          </a:prstGeom>
        </p:spPr>
        <p:txBody>
          <a:bodyPr anchor="t" rtlCol="false" tIns="0" lIns="0" bIns="0" rIns="0">
            <a:spAutoFit/>
          </a:bodyPr>
          <a:lstStyle/>
          <a:p>
            <a:pPr algn="ctr">
              <a:lnSpc>
                <a:spcPts val="4058"/>
              </a:lnSpc>
              <a:spcBef>
                <a:spcPct val="0"/>
              </a:spcBef>
            </a:pPr>
            <a:r>
              <a:rPr lang="en-US" b="true" sz="2898" u="sng">
                <a:solidFill>
                  <a:srgbClr val="000000"/>
                </a:solidFill>
                <a:latin typeface="Calibri (MS) Bold"/>
                <a:ea typeface="Calibri (MS) Bold"/>
                <a:cs typeface="Calibri (MS) Bold"/>
                <a:sym typeface="Calibri (MS) Bold"/>
                <a:hlinkClick r:id="rId6" tooltip="https://drive.google.com/drive/folders/146TP3C6BJPuByczkCy2VHhQcak6S1imb?usp=sharing"/>
              </a:rPr>
              <a:t>https://drive.google.com/drive/folders/146TP3C6BJPuByczkCy2VHhQcak6S1imb?usp=sharing text</a:t>
            </a:r>
          </a:p>
        </p:txBody>
      </p:sp>
      <p:sp>
        <p:nvSpPr>
          <p:cNvPr name="TextBox 12" id="12"/>
          <p:cNvSpPr txBox="true"/>
          <p:nvPr/>
        </p:nvSpPr>
        <p:spPr>
          <a:xfrm rot="0">
            <a:off x="7333281" y="2717470"/>
            <a:ext cx="10448444" cy="1084051"/>
          </a:xfrm>
          <a:prstGeom prst="rect">
            <a:avLst/>
          </a:prstGeom>
        </p:spPr>
        <p:txBody>
          <a:bodyPr anchor="t" rtlCol="false" tIns="0" lIns="0" bIns="0" rIns="0">
            <a:spAutoFit/>
          </a:bodyPr>
          <a:lstStyle/>
          <a:p>
            <a:pPr algn="ctr">
              <a:lnSpc>
                <a:spcPts val="4138"/>
              </a:lnSpc>
              <a:spcBef>
                <a:spcPct val="0"/>
              </a:spcBef>
            </a:pPr>
            <a:r>
              <a:rPr lang="en-US" b="true" sz="2956" u="sng">
                <a:solidFill>
                  <a:srgbClr val="000000"/>
                </a:solidFill>
                <a:latin typeface="Calibri (MS) Bold"/>
                <a:ea typeface="Calibri (MS) Bold"/>
                <a:cs typeface="Calibri (MS) Bold"/>
                <a:sym typeface="Calibri (MS) Bold"/>
                <a:hlinkClick r:id="rId7" tooltip="https://github.com/SAMAYEETA27/Feature-Engineering-for-Credit-Card-Fraud-Detection-by-Samayeeta-Saha"/>
              </a:rPr>
              <a:t>https://github.com/SAMAYEETA27/Feature-Engineering-for-Credit-Card-Fraud-Detection-by-Samayeeta-Sahaph text</a:t>
            </a:r>
          </a:p>
        </p:txBody>
      </p:sp>
      <p:sp>
        <p:nvSpPr>
          <p:cNvPr name="TextBox 13" id="13"/>
          <p:cNvSpPr txBox="true"/>
          <p:nvPr/>
        </p:nvSpPr>
        <p:spPr>
          <a:xfrm rot="0">
            <a:off x="7635827" y="4779336"/>
            <a:ext cx="8191878" cy="612323"/>
          </a:xfrm>
          <a:prstGeom prst="rect">
            <a:avLst/>
          </a:prstGeom>
        </p:spPr>
        <p:txBody>
          <a:bodyPr anchor="t" rtlCol="false" tIns="0" lIns="0" bIns="0" rIns="0">
            <a:spAutoFit/>
          </a:bodyPr>
          <a:lstStyle/>
          <a:p>
            <a:pPr algn="ctr">
              <a:lnSpc>
                <a:spcPts val="4431"/>
              </a:lnSpc>
              <a:spcBef>
                <a:spcPct val="0"/>
              </a:spcBef>
            </a:pPr>
            <a:r>
              <a:rPr lang="en-US" b="true" sz="3165" u="sng">
                <a:solidFill>
                  <a:srgbClr val="000000"/>
                </a:solidFill>
                <a:latin typeface="Calibri (MS) Bold"/>
                <a:ea typeface="Calibri (MS) Bold"/>
                <a:cs typeface="Calibri (MS) Bold"/>
                <a:sym typeface="Calibri (MS) Bold"/>
                <a:hlinkClick r:id="rId8" tooltip="https://training.allsoftsolutions.in/projects/42"/>
              </a:rPr>
              <a:t>https://training.allsoftsolutions.in/projects/42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DAG4mBkhs08</dc:identifier>
  <dcterms:modified xsi:type="dcterms:W3CDTF">2011-08-01T06:04:30Z</dcterms:modified>
  <cp:revision>1</cp:revision>
  <dc:title>FEATURE ENGINEERING FOR</dc:title>
</cp:coreProperties>
</file>